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Montserrat Medium" charset="1" panose="00000600000000000000"/>
      <p:regular r:id="rId35"/>
    </p:embeddedFont>
    <p:embeddedFont>
      <p:font typeface="Montserrat Bold" charset="1" panose="00000800000000000000"/>
      <p:regular r:id="rId36"/>
    </p:embeddedFont>
    <p:embeddedFont>
      <p:font typeface="Montserrat Semi-Bold" charset="1" panose="00000700000000000000"/>
      <p:regular r:id="rId37"/>
    </p:embeddedFont>
    <p:embeddedFont>
      <p:font typeface="Montserrat" charset="1" panose="00000500000000000000"/>
      <p:regular r:id="rId38"/>
    </p:embeddedFont>
    <p:embeddedFont>
      <p:font typeface="DM Sans Bold" charset="1" panose="00000000000000000000"/>
      <p:regular r:id="rId39"/>
    </p:embeddedFont>
    <p:embeddedFont>
      <p:font typeface="DM Sans" charset="1" panose="00000000000000000000"/>
      <p:regular r:id="rId40"/>
    </p:embeddedFont>
    <p:embeddedFont>
      <p:font typeface="Lora" charset="1" panose="00000500000000000000"/>
      <p:regular r:id="rId41"/>
    </p:embeddedFont>
    <p:embeddedFont>
      <p:font typeface="Mokoto" charset="1" panose="00000000000000000000"/>
      <p:regular r:id="rId42"/>
    </p:embeddedFont>
    <p:embeddedFont>
      <p:font typeface="Lora Bold" charset="1" panose="00000800000000000000"/>
      <p:regular r:id="rId43"/>
    </p:embeddedFont>
    <p:embeddedFont>
      <p:font typeface="Canva Sans Bold" charset="1" panose="020B0803030501040103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sv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2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3.pn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4.png" Type="http://schemas.openxmlformats.org/officeDocument/2006/relationships/image"/><Relationship Id="rId7" Target="../embeddings/oleObject2.bin" Type="http://schemas.openxmlformats.org/officeDocument/2006/relationships/oleObject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5.png" Type="http://schemas.openxmlformats.org/officeDocument/2006/relationships/image"/><Relationship Id="rId7" Target="../embeddings/oleObject3.bin" Type="http://schemas.openxmlformats.org/officeDocument/2006/relationships/oleObject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6.png" Type="http://schemas.openxmlformats.org/officeDocument/2006/relationships/image"/><Relationship Id="rId7" Target="../embeddings/oleObject4.bin" Type="http://schemas.openxmlformats.org/officeDocument/2006/relationships/oleObject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7.png" Type="http://schemas.openxmlformats.org/officeDocument/2006/relationships/image"/><Relationship Id="rId7" Target="../embeddings/oleObject5.bin" Type="http://schemas.openxmlformats.org/officeDocument/2006/relationships/oleObject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8.pn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9.png" Type="http://schemas.openxmlformats.org/officeDocument/2006/relationships/image"/><Relationship Id="rId7" Target="../embeddings/oleObject6.bin" Type="http://schemas.openxmlformats.org/officeDocument/2006/relationships/oleObject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50.pn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51.pn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52.png" Type="http://schemas.openxmlformats.org/officeDocument/2006/relationships/image"/><Relationship Id="rId7" Target="../embeddings/oleObject7.bin" Type="http://schemas.openxmlformats.org/officeDocument/2006/relationships/oleObject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53.pn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embeddings/oleObject10.bin" Type="http://schemas.openxmlformats.org/officeDocument/2006/relationships/oleObject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54.png" Type="http://schemas.openxmlformats.org/officeDocument/2006/relationships/image"/><Relationship Id="rId7" Target="../embeddings/oleObject8.bin" Type="http://schemas.openxmlformats.org/officeDocument/2006/relationships/oleObject"/><Relationship Id="rId8" Target="../media/image55.png" Type="http://schemas.openxmlformats.org/officeDocument/2006/relationships/image"/><Relationship Id="rId9" Target="../embeddings/oleObject9.bin" Type="http://schemas.openxmlformats.org/officeDocument/2006/relationships/oleObjec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jpeg" Type="http://schemas.openxmlformats.org/officeDocument/2006/relationships/image"/><Relationship Id="rId3" Target="https://youtu.be/3VYvmQKQvIk?si=_-EaK1Wp5Ya5Py_X" TargetMode="External" Type="http://schemas.openxmlformats.org/officeDocument/2006/relationships/video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58.png" Type="http://schemas.openxmlformats.org/officeDocument/2006/relationships/image"/><Relationship Id="rId5" Target="../media/image59.jpe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5731" y="-108000"/>
            <a:ext cx="18839462" cy="10503000"/>
          </a:xfrm>
          <a:custGeom>
            <a:avLst/>
            <a:gdLst/>
            <a:ahLst/>
            <a:cxnLst/>
            <a:rect r="r" b="b" t="t" l="l"/>
            <a:pathLst>
              <a:path h="10503000" w="18839462">
                <a:moveTo>
                  <a:pt x="0" y="0"/>
                </a:moveTo>
                <a:lnTo>
                  <a:pt x="18839462" y="0"/>
                </a:lnTo>
                <a:lnTo>
                  <a:pt x="18839462" y="10503000"/>
                </a:lnTo>
                <a:lnTo>
                  <a:pt x="0" y="1050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5731" y="5362312"/>
            <a:ext cx="6065321" cy="5032688"/>
          </a:xfrm>
          <a:custGeom>
            <a:avLst/>
            <a:gdLst/>
            <a:ahLst/>
            <a:cxnLst/>
            <a:rect r="r" b="b" t="t" l="l"/>
            <a:pathLst>
              <a:path h="5032688" w="6065321">
                <a:moveTo>
                  <a:pt x="0" y="0"/>
                </a:moveTo>
                <a:lnTo>
                  <a:pt x="6065321" y="0"/>
                </a:lnTo>
                <a:lnTo>
                  <a:pt x="6065321" y="5032688"/>
                </a:lnTo>
                <a:lnTo>
                  <a:pt x="0" y="5032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5731" y="8206875"/>
            <a:ext cx="2478156" cy="2188125"/>
          </a:xfrm>
          <a:custGeom>
            <a:avLst/>
            <a:gdLst/>
            <a:ahLst/>
            <a:cxnLst/>
            <a:rect r="r" b="b" t="t" l="l"/>
            <a:pathLst>
              <a:path h="2188125" w="2478156">
                <a:moveTo>
                  <a:pt x="0" y="0"/>
                </a:moveTo>
                <a:lnTo>
                  <a:pt x="2478156" y="0"/>
                </a:lnTo>
                <a:lnTo>
                  <a:pt x="2478156" y="2188125"/>
                </a:lnTo>
                <a:lnTo>
                  <a:pt x="0" y="2188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63064" y="6018750"/>
            <a:ext cx="1588210" cy="1531688"/>
          </a:xfrm>
          <a:custGeom>
            <a:avLst/>
            <a:gdLst/>
            <a:ahLst/>
            <a:cxnLst/>
            <a:rect r="r" b="b" t="t" l="l"/>
            <a:pathLst>
              <a:path h="1531688" w="1588210">
                <a:moveTo>
                  <a:pt x="0" y="0"/>
                </a:moveTo>
                <a:lnTo>
                  <a:pt x="1588210" y="0"/>
                </a:lnTo>
                <a:lnTo>
                  <a:pt x="1588210" y="1531688"/>
                </a:lnTo>
                <a:lnTo>
                  <a:pt x="0" y="1531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396" y="1642500"/>
            <a:ext cx="6298076" cy="218813"/>
          </a:xfrm>
          <a:custGeom>
            <a:avLst/>
            <a:gdLst/>
            <a:ahLst/>
            <a:cxnLst/>
            <a:rect r="r" b="b" t="t" l="l"/>
            <a:pathLst>
              <a:path h="218813" w="6298076">
                <a:moveTo>
                  <a:pt x="0" y="0"/>
                </a:moveTo>
                <a:lnTo>
                  <a:pt x="6298076" y="0"/>
                </a:lnTo>
                <a:lnTo>
                  <a:pt x="6298076" y="218812"/>
                </a:lnTo>
                <a:lnTo>
                  <a:pt x="0" y="2188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75731" y="9738562"/>
            <a:ext cx="18620398" cy="656437"/>
          </a:xfrm>
          <a:custGeom>
            <a:avLst/>
            <a:gdLst/>
            <a:ahLst/>
            <a:cxnLst/>
            <a:rect r="r" b="b" t="t" l="l"/>
            <a:pathLst>
              <a:path h="656437" w="18620398">
                <a:moveTo>
                  <a:pt x="0" y="0"/>
                </a:moveTo>
                <a:lnTo>
                  <a:pt x="18620398" y="0"/>
                </a:lnTo>
                <a:lnTo>
                  <a:pt x="18620398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98410" y="1423687"/>
            <a:ext cx="3600856" cy="7220813"/>
          </a:xfrm>
          <a:custGeom>
            <a:avLst/>
            <a:gdLst/>
            <a:ahLst/>
            <a:cxnLst/>
            <a:rect r="r" b="b" t="t" l="l"/>
            <a:pathLst>
              <a:path h="7220813" w="3600856">
                <a:moveTo>
                  <a:pt x="0" y="0"/>
                </a:moveTo>
                <a:lnTo>
                  <a:pt x="3600856" y="0"/>
                </a:lnTo>
                <a:lnTo>
                  <a:pt x="3600856" y="7220813"/>
                </a:lnTo>
                <a:lnTo>
                  <a:pt x="0" y="72208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43811" y="1861312"/>
            <a:ext cx="465510" cy="656438"/>
          </a:xfrm>
          <a:custGeom>
            <a:avLst/>
            <a:gdLst/>
            <a:ahLst/>
            <a:cxnLst/>
            <a:rect r="r" b="b" t="t" l="l"/>
            <a:pathLst>
              <a:path h="656438" w="465510">
                <a:moveTo>
                  <a:pt x="0" y="0"/>
                </a:moveTo>
                <a:lnTo>
                  <a:pt x="465510" y="0"/>
                </a:lnTo>
                <a:lnTo>
                  <a:pt x="465510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195629" y="1861312"/>
            <a:ext cx="232755" cy="656438"/>
          </a:xfrm>
          <a:custGeom>
            <a:avLst/>
            <a:gdLst/>
            <a:ahLst/>
            <a:cxnLst/>
            <a:rect r="r" b="b" t="t" l="l"/>
            <a:pathLst>
              <a:path h="656438" w="232755">
                <a:moveTo>
                  <a:pt x="0" y="0"/>
                </a:moveTo>
                <a:lnTo>
                  <a:pt x="232755" y="0"/>
                </a:lnTo>
                <a:lnTo>
                  <a:pt x="232755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69292" y="2298937"/>
            <a:ext cx="465510" cy="437625"/>
          </a:xfrm>
          <a:custGeom>
            <a:avLst/>
            <a:gdLst/>
            <a:ahLst/>
            <a:cxnLst/>
            <a:rect r="r" b="b" t="t" l="l"/>
            <a:pathLst>
              <a:path h="437625" w="465510">
                <a:moveTo>
                  <a:pt x="0" y="0"/>
                </a:moveTo>
                <a:lnTo>
                  <a:pt x="465510" y="0"/>
                </a:lnTo>
                <a:lnTo>
                  <a:pt x="465510" y="437625"/>
                </a:lnTo>
                <a:lnTo>
                  <a:pt x="0" y="437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69292" y="3611812"/>
            <a:ext cx="917328" cy="1094063"/>
          </a:xfrm>
          <a:custGeom>
            <a:avLst/>
            <a:gdLst/>
            <a:ahLst/>
            <a:cxnLst/>
            <a:rect r="r" b="b" t="t" l="l"/>
            <a:pathLst>
              <a:path h="1094063" w="917328">
                <a:moveTo>
                  <a:pt x="0" y="0"/>
                </a:moveTo>
                <a:lnTo>
                  <a:pt x="917328" y="0"/>
                </a:lnTo>
                <a:lnTo>
                  <a:pt x="917328" y="1094063"/>
                </a:lnTo>
                <a:lnTo>
                  <a:pt x="0" y="10940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072929" y="3611812"/>
            <a:ext cx="465510" cy="437625"/>
          </a:xfrm>
          <a:custGeom>
            <a:avLst/>
            <a:gdLst/>
            <a:ahLst/>
            <a:cxnLst/>
            <a:rect r="r" b="b" t="t" l="l"/>
            <a:pathLst>
              <a:path h="437625" w="465510">
                <a:moveTo>
                  <a:pt x="0" y="0"/>
                </a:moveTo>
                <a:lnTo>
                  <a:pt x="465510" y="0"/>
                </a:lnTo>
                <a:lnTo>
                  <a:pt x="465510" y="437626"/>
                </a:lnTo>
                <a:lnTo>
                  <a:pt x="0" y="4376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169292" y="4705875"/>
            <a:ext cx="684573" cy="437625"/>
          </a:xfrm>
          <a:custGeom>
            <a:avLst/>
            <a:gdLst/>
            <a:ahLst/>
            <a:cxnLst/>
            <a:rect r="r" b="b" t="t" l="l"/>
            <a:pathLst>
              <a:path h="437625" w="684573">
                <a:moveTo>
                  <a:pt x="0" y="0"/>
                </a:moveTo>
                <a:lnTo>
                  <a:pt x="684573" y="0"/>
                </a:lnTo>
                <a:lnTo>
                  <a:pt x="684573" y="437625"/>
                </a:lnTo>
                <a:lnTo>
                  <a:pt x="0" y="437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72929" y="4705875"/>
            <a:ext cx="465510" cy="437625"/>
          </a:xfrm>
          <a:custGeom>
            <a:avLst/>
            <a:gdLst/>
            <a:ahLst/>
            <a:cxnLst/>
            <a:rect r="r" b="b" t="t" l="l"/>
            <a:pathLst>
              <a:path h="437625" w="465510">
                <a:moveTo>
                  <a:pt x="0" y="0"/>
                </a:moveTo>
                <a:lnTo>
                  <a:pt x="465510" y="0"/>
                </a:lnTo>
                <a:lnTo>
                  <a:pt x="465510" y="437625"/>
                </a:lnTo>
                <a:lnTo>
                  <a:pt x="0" y="437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169292" y="5581125"/>
            <a:ext cx="2259092" cy="2188125"/>
          </a:xfrm>
          <a:custGeom>
            <a:avLst/>
            <a:gdLst/>
            <a:ahLst/>
            <a:cxnLst/>
            <a:rect r="r" b="b" t="t" l="l"/>
            <a:pathLst>
              <a:path h="2188125" w="2259092">
                <a:moveTo>
                  <a:pt x="0" y="0"/>
                </a:moveTo>
                <a:lnTo>
                  <a:pt x="2259092" y="0"/>
                </a:lnTo>
                <a:lnTo>
                  <a:pt x="2259092" y="2188125"/>
                </a:lnTo>
                <a:lnTo>
                  <a:pt x="0" y="21881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169292" y="6456375"/>
            <a:ext cx="2259092" cy="1094062"/>
          </a:xfrm>
          <a:custGeom>
            <a:avLst/>
            <a:gdLst/>
            <a:ahLst/>
            <a:cxnLst/>
            <a:rect r="r" b="b" t="t" l="l"/>
            <a:pathLst>
              <a:path h="1094062" w="2259092">
                <a:moveTo>
                  <a:pt x="0" y="0"/>
                </a:moveTo>
                <a:lnTo>
                  <a:pt x="2259092" y="0"/>
                </a:lnTo>
                <a:lnTo>
                  <a:pt x="2259092" y="1094063"/>
                </a:lnTo>
                <a:lnTo>
                  <a:pt x="0" y="109406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169292" y="7331625"/>
            <a:ext cx="465510" cy="656437"/>
          </a:xfrm>
          <a:custGeom>
            <a:avLst/>
            <a:gdLst/>
            <a:ahLst/>
            <a:cxnLst/>
            <a:rect r="r" b="b" t="t" l="l"/>
            <a:pathLst>
              <a:path h="656437" w="465510">
                <a:moveTo>
                  <a:pt x="0" y="0"/>
                </a:moveTo>
                <a:lnTo>
                  <a:pt x="465510" y="0"/>
                </a:lnTo>
                <a:lnTo>
                  <a:pt x="465510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621110" y="7331625"/>
            <a:ext cx="1807274" cy="875250"/>
          </a:xfrm>
          <a:custGeom>
            <a:avLst/>
            <a:gdLst/>
            <a:ahLst/>
            <a:cxnLst/>
            <a:rect r="r" b="b" t="t" l="l"/>
            <a:pathLst>
              <a:path h="875250" w="1807274">
                <a:moveTo>
                  <a:pt x="0" y="0"/>
                </a:moveTo>
                <a:lnTo>
                  <a:pt x="1807274" y="0"/>
                </a:lnTo>
                <a:lnTo>
                  <a:pt x="1807274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853865" y="7550438"/>
            <a:ext cx="451818" cy="437625"/>
          </a:xfrm>
          <a:custGeom>
            <a:avLst/>
            <a:gdLst/>
            <a:ahLst/>
            <a:cxnLst/>
            <a:rect r="r" b="b" t="t" l="l"/>
            <a:pathLst>
              <a:path h="437625" w="451818">
                <a:moveTo>
                  <a:pt x="0" y="0"/>
                </a:moveTo>
                <a:lnTo>
                  <a:pt x="451819" y="0"/>
                </a:lnTo>
                <a:lnTo>
                  <a:pt x="451819" y="437625"/>
                </a:lnTo>
                <a:lnTo>
                  <a:pt x="0" y="4376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743811" y="3611812"/>
            <a:ext cx="684573" cy="1094063"/>
          </a:xfrm>
          <a:custGeom>
            <a:avLst/>
            <a:gdLst/>
            <a:ahLst/>
            <a:cxnLst/>
            <a:rect r="r" b="b" t="t" l="l"/>
            <a:pathLst>
              <a:path h="1094063" w="684573">
                <a:moveTo>
                  <a:pt x="0" y="0"/>
                </a:moveTo>
                <a:lnTo>
                  <a:pt x="684573" y="0"/>
                </a:lnTo>
                <a:lnTo>
                  <a:pt x="684573" y="1094063"/>
                </a:lnTo>
                <a:lnTo>
                  <a:pt x="0" y="109406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743811" y="4705875"/>
            <a:ext cx="465510" cy="437625"/>
          </a:xfrm>
          <a:custGeom>
            <a:avLst/>
            <a:gdLst/>
            <a:ahLst/>
            <a:cxnLst/>
            <a:rect r="r" b="b" t="t" l="l"/>
            <a:pathLst>
              <a:path h="437625" w="465510">
                <a:moveTo>
                  <a:pt x="0" y="0"/>
                </a:moveTo>
                <a:lnTo>
                  <a:pt x="465510" y="0"/>
                </a:lnTo>
                <a:lnTo>
                  <a:pt x="465510" y="437625"/>
                </a:lnTo>
                <a:lnTo>
                  <a:pt x="0" y="4376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455273" y="47797"/>
            <a:ext cx="4429748" cy="1438906"/>
          </a:xfrm>
          <a:custGeom>
            <a:avLst/>
            <a:gdLst/>
            <a:ahLst/>
            <a:cxnLst/>
            <a:rect r="r" b="b" t="t" l="l"/>
            <a:pathLst>
              <a:path h="1438906" w="4429748">
                <a:moveTo>
                  <a:pt x="0" y="0"/>
                </a:moveTo>
                <a:lnTo>
                  <a:pt x="4429748" y="0"/>
                </a:lnTo>
                <a:lnTo>
                  <a:pt x="4429748" y="1438906"/>
                </a:lnTo>
                <a:lnTo>
                  <a:pt x="0" y="143890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-172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96" y="238588"/>
            <a:ext cx="1034034" cy="1057323"/>
          </a:xfrm>
          <a:custGeom>
            <a:avLst/>
            <a:gdLst/>
            <a:ahLst/>
            <a:cxnLst/>
            <a:rect r="r" b="b" t="t" l="l"/>
            <a:pathLst>
              <a:path h="1057323" w="1034034">
                <a:moveTo>
                  <a:pt x="0" y="0"/>
                </a:moveTo>
                <a:lnTo>
                  <a:pt x="1034034" y="0"/>
                </a:lnTo>
                <a:lnTo>
                  <a:pt x="1034034" y="1057324"/>
                </a:lnTo>
                <a:lnTo>
                  <a:pt x="0" y="1057324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50256" y="143578"/>
            <a:ext cx="3620803" cy="11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8"/>
              </a:lnSpc>
            </a:pPr>
            <a:r>
              <a:rPr lang="en-US" sz="3391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Royal University of Phnom Penh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5526" y="2922115"/>
            <a:ext cx="8911065" cy="3203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36"/>
              </a:lnSpc>
            </a:pPr>
            <a:r>
              <a:rPr lang="en-US" sz="14501" b="true">
                <a:solidFill>
                  <a:srgbClr val="D0FA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SCAM SHIELD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5526" y="6202340"/>
            <a:ext cx="4107003" cy="354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083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Advisor: Mr. Chhim Bunchhun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5526" y="9908409"/>
            <a:ext cx="1996983" cy="41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388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Shield Inc.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523806" y="9908409"/>
            <a:ext cx="3240387" cy="41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lang="en-US" sz="2388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Artificial Intelligence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510230" y="9908409"/>
            <a:ext cx="1205726" cy="410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43"/>
              </a:lnSpc>
            </a:pPr>
            <a:r>
              <a:rPr lang="en-US" sz="2388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Page 01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5526" y="6590889"/>
            <a:ext cx="2204217" cy="22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7"/>
              </a:lnSpc>
            </a:pPr>
            <a:r>
              <a:rPr lang="en-US" sz="131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Presented by: Yoeurn Yan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5731" y="-108000"/>
            <a:ext cx="18839462" cy="10503000"/>
          </a:xfrm>
          <a:custGeom>
            <a:avLst/>
            <a:gdLst/>
            <a:ahLst/>
            <a:cxnLst/>
            <a:rect r="r" b="b" t="t" l="l"/>
            <a:pathLst>
              <a:path h="10503000" w="18839462">
                <a:moveTo>
                  <a:pt x="0" y="0"/>
                </a:moveTo>
                <a:lnTo>
                  <a:pt x="18839462" y="0"/>
                </a:lnTo>
                <a:lnTo>
                  <a:pt x="18839462" y="10503000"/>
                </a:lnTo>
                <a:lnTo>
                  <a:pt x="0" y="1050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5731" y="329625"/>
            <a:ext cx="4271738" cy="5689125"/>
          </a:xfrm>
          <a:custGeom>
            <a:avLst/>
            <a:gdLst/>
            <a:ahLst/>
            <a:cxnLst/>
            <a:rect r="r" b="b" t="t" l="l"/>
            <a:pathLst>
              <a:path h="5689125" w="4271738">
                <a:moveTo>
                  <a:pt x="0" y="0"/>
                </a:moveTo>
                <a:lnTo>
                  <a:pt x="4271739" y="0"/>
                </a:lnTo>
                <a:lnTo>
                  <a:pt x="4271739" y="5689125"/>
                </a:lnTo>
                <a:lnTo>
                  <a:pt x="0" y="5689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43811" y="1204875"/>
            <a:ext cx="3381793" cy="8752500"/>
          </a:xfrm>
          <a:custGeom>
            <a:avLst/>
            <a:gdLst/>
            <a:ahLst/>
            <a:cxnLst/>
            <a:rect r="r" b="b" t="t" l="l"/>
            <a:pathLst>
              <a:path h="8752500" w="3381793">
                <a:moveTo>
                  <a:pt x="0" y="0"/>
                </a:moveTo>
                <a:lnTo>
                  <a:pt x="3381793" y="0"/>
                </a:lnTo>
                <a:lnTo>
                  <a:pt x="3381793" y="8752500"/>
                </a:lnTo>
                <a:lnTo>
                  <a:pt x="0" y="8752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75731" y="6018750"/>
            <a:ext cx="6736203" cy="3063375"/>
          </a:xfrm>
          <a:custGeom>
            <a:avLst/>
            <a:gdLst/>
            <a:ahLst/>
            <a:cxnLst/>
            <a:rect r="r" b="b" t="t" l="l"/>
            <a:pathLst>
              <a:path h="3063375" w="6736203">
                <a:moveTo>
                  <a:pt x="0" y="0"/>
                </a:moveTo>
                <a:lnTo>
                  <a:pt x="6736203" y="0"/>
                </a:lnTo>
                <a:lnTo>
                  <a:pt x="6736203" y="3063375"/>
                </a:lnTo>
                <a:lnTo>
                  <a:pt x="0" y="3063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92084" y="586512"/>
            <a:ext cx="8703831" cy="933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19"/>
              </a:lnSpc>
            </a:pPr>
            <a:r>
              <a:rPr lang="en-US" b="true" sz="5442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TABLE OF CONTENTS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36915" y="2298937"/>
            <a:ext cx="7407085" cy="2188125"/>
          </a:xfrm>
          <a:custGeom>
            <a:avLst/>
            <a:gdLst/>
            <a:ahLst/>
            <a:cxnLst/>
            <a:rect r="r" b="b" t="t" l="l"/>
            <a:pathLst>
              <a:path h="2188125" w="7407085">
                <a:moveTo>
                  <a:pt x="0" y="0"/>
                </a:moveTo>
                <a:lnTo>
                  <a:pt x="7407085" y="0"/>
                </a:lnTo>
                <a:lnTo>
                  <a:pt x="7407085" y="2188125"/>
                </a:lnTo>
                <a:lnTo>
                  <a:pt x="0" y="21881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93670" y="2441222"/>
            <a:ext cx="791257" cy="146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6"/>
              </a:lnSpc>
            </a:pPr>
            <a:r>
              <a:rPr lang="en-US" sz="8597" b="true">
                <a:solidFill>
                  <a:srgbClr val="5CE1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12432" y="2896937"/>
            <a:ext cx="3296906" cy="71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0"/>
              </a:lnSpc>
            </a:pPr>
            <a:r>
              <a:rPr lang="en-US" sz="427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144000" y="2298937"/>
            <a:ext cx="7407085" cy="2188125"/>
          </a:xfrm>
          <a:custGeom>
            <a:avLst/>
            <a:gdLst/>
            <a:ahLst/>
            <a:cxnLst/>
            <a:rect r="r" b="b" t="t" l="l"/>
            <a:pathLst>
              <a:path h="2188125" w="7407085">
                <a:moveTo>
                  <a:pt x="0" y="0"/>
                </a:moveTo>
                <a:lnTo>
                  <a:pt x="7407085" y="0"/>
                </a:lnTo>
                <a:lnTo>
                  <a:pt x="7407085" y="2188125"/>
                </a:lnTo>
                <a:lnTo>
                  <a:pt x="0" y="2188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784542" y="2441222"/>
            <a:ext cx="1055010" cy="146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6"/>
              </a:lnSpc>
            </a:pPr>
            <a:r>
              <a:rPr lang="en-US" sz="8597" b="true">
                <a:solidFill>
                  <a:srgbClr val="5CE1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97501" y="2896937"/>
            <a:ext cx="4672187" cy="71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0"/>
              </a:lnSpc>
            </a:pPr>
            <a:r>
              <a:rPr lang="en-US" sz="427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Literature Review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36915" y="4487062"/>
            <a:ext cx="7407085" cy="2188125"/>
          </a:xfrm>
          <a:custGeom>
            <a:avLst/>
            <a:gdLst/>
            <a:ahLst/>
            <a:cxnLst/>
            <a:rect r="r" b="b" t="t" l="l"/>
            <a:pathLst>
              <a:path h="2188125" w="7407085">
                <a:moveTo>
                  <a:pt x="0" y="0"/>
                </a:moveTo>
                <a:lnTo>
                  <a:pt x="7407085" y="0"/>
                </a:lnTo>
                <a:lnTo>
                  <a:pt x="7407085" y="2188126"/>
                </a:lnTo>
                <a:lnTo>
                  <a:pt x="0" y="21881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361794" y="4720373"/>
            <a:ext cx="1055010" cy="146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6"/>
              </a:lnSpc>
            </a:pPr>
            <a:r>
              <a:rPr lang="en-US" sz="8597" b="true">
                <a:solidFill>
                  <a:srgbClr val="5CE1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12432" y="5176088"/>
            <a:ext cx="3541819" cy="71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0"/>
              </a:lnSpc>
            </a:pPr>
            <a:r>
              <a:rPr lang="en-US" sz="427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Methodology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144000" y="4487062"/>
            <a:ext cx="7407085" cy="2188125"/>
          </a:xfrm>
          <a:custGeom>
            <a:avLst/>
            <a:gdLst/>
            <a:ahLst/>
            <a:cxnLst/>
            <a:rect r="r" b="b" t="t" l="l"/>
            <a:pathLst>
              <a:path h="2188125" w="7407085">
                <a:moveTo>
                  <a:pt x="0" y="0"/>
                </a:moveTo>
                <a:lnTo>
                  <a:pt x="7407085" y="0"/>
                </a:lnTo>
                <a:lnTo>
                  <a:pt x="7407085" y="2188126"/>
                </a:lnTo>
                <a:lnTo>
                  <a:pt x="0" y="21881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746863" y="4720373"/>
            <a:ext cx="1149207" cy="146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6"/>
              </a:lnSpc>
            </a:pPr>
            <a:r>
              <a:rPr lang="en-US" sz="8597" b="true">
                <a:solidFill>
                  <a:srgbClr val="5CE1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97501" y="5176088"/>
            <a:ext cx="1695552" cy="71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0"/>
              </a:lnSpc>
            </a:pPr>
            <a:r>
              <a:rPr lang="en-US" sz="427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Result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736915" y="6894000"/>
            <a:ext cx="7407085" cy="2188125"/>
          </a:xfrm>
          <a:custGeom>
            <a:avLst/>
            <a:gdLst/>
            <a:ahLst/>
            <a:cxnLst/>
            <a:rect r="r" b="b" t="t" l="l"/>
            <a:pathLst>
              <a:path h="2188125" w="7407085">
                <a:moveTo>
                  <a:pt x="0" y="0"/>
                </a:moveTo>
                <a:lnTo>
                  <a:pt x="7407085" y="0"/>
                </a:lnTo>
                <a:lnTo>
                  <a:pt x="7407085" y="2188125"/>
                </a:lnTo>
                <a:lnTo>
                  <a:pt x="0" y="2188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361794" y="6999524"/>
            <a:ext cx="1055010" cy="146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6"/>
              </a:lnSpc>
            </a:pPr>
            <a:r>
              <a:rPr lang="en-US" sz="8597" b="true">
                <a:solidFill>
                  <a:srgbClr val="5CE1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12432" y="7455239"/>
            <a:ext cx="2863598" cy="71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0"/>
              </a:lnSpc>
            </a:pPr>
            <a:r>
              <a:rPr lang="en-US" sz="427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Discussion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144000" y="6894000"/>
            <a:ext cx="7407085" cy="2188125"/>
          </a:xfrm>
          <a:custGeom>
            <a:avLst/>
            <a:gdLst/>
            <a:ahLst/>
            <a:cxnLst/>
            <a:rect r="r" b="b" t="t" l="l"/>
            <a:pathLst>
              <a:path h="2188125" w="7407085">
                <a:moveTo>
                  <a:pt x="0" y="0"/>
                </a:moveTo>
                <a:lnTo>
                  <a:pt x="7407085" y="0"/>
                </a:lnTo>
                <a:lnTo>
                  <a:pt x="7407085" y="2188125"/>
                </a:lnTo>
                <a:lnTo>
                  <a:pt x="0" y="21881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784542" y="6999524"/>
            <a:ext cx="1055010" cy="146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6"/>
              </a:lnSpc>
            </a:pPr>
            <a:r>
              <a:rPr lang="en-US" sz="8597" b="true">
                <a:solidFill>
                  <a:srgbClr val="5CE1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97501" y="7455239"/>
            <a:ext cx="2957796" cy="71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0"/>
              </a:lnSpc>
            </a:pPr>
            <a:r>
              <a:rPr lang="en-US" sz="427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14215" y="9519750"/>
            <a:ext cx="17059571" cy="218813"/>
          </a:xfrm>
          <a:custGeom>
            <a:avLst/>
            <a:gdLst/>
            <a:ahLst/>
            <a:cxnLst/>
            <a:rect r="r" b="b" t="t" l="l"/>
            <a:pathLst>
              <a:path h="218813" w="17059571">
                <a:moveTo>
                  <a:pt x="0" y="0"/>
                </a:moveTo>
                <a:lnTo>
                  <a:pt x="17059570" y="0"/>
                </a:lnTo>
                <a:lnTo>
                  <a:pt x="17059570" y="218813"/>
                </a:lnTo>
                <a:lnTo>
                  <a:pt x="0" y="21881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22761" y="9708265"/>
            <a:ext cx="1940465" cy="43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25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Shield Inc.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80325" y="9708265"/>
            <a:ext cx="3127351" cy="43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8"/>
              </a:lnSpc>
            </a:pPr>
            <a:r>
              <a:rPr lang="en-US" sz="25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Artificial Intelligence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359514" y="9713810"/>
            <a:ext cx="1205726" cy="42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86"/>
              </a:lnSpc>
            </a:pPr>
            <a:r>
              <a:rPr lang="en-US" sz="249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02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404013" y="2236470"/>
            <a:ext cx="9073401" cy="5728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 the digital age, spam and phishing attacks have become increasingly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sophisticated, posing significant threats to individuals and organizations.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Cambodia has seen a rise in SMS scams, fraudulent messages, and phishing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attempts targeting mobile users. Traditional rule-based spam filters are no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longer sufficient to combat these evolving threats, creating a need for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intelligent, AI-powered detection systems.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20391" y="2879464"/>
            <a:ext cx="4953540" cy="4953540"/>
          </a:xfrm>
          <a:custGeom>
            <a:avLst/>
            <a:gdLst/>
            <a:ahLst/>
            <a:cxnLst/>
            <a:rect r="r" b="b" t="t" l="l"/>
            <a:pathLst>
              <a:path h="4953540" w="4953540">
                <a:moveTo>
                  <a:pt x="0" y="0"/>
                </a:moveTo>
                <a:lnTo>
                  <a:pt x="4953540" y="0"/>
                </a:lnTo>
                <a:lnTo>
                  <a:pt x="4953540" y="4953541"/>
                </a:lnTo>
                <a:lnTo>
                  <a:pt x="0" y="49535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68217" y="688138"/>
            <a:ext cx="7333884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71775" y="685800"/>
            <a:ext cx="14658975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56"/>
              </a:lnSpc>
              <a:spcBef>
                <a:spcPct val="0"/>
              </a:spcBef>
            </a:pPr>
            <a:r>
              <a:rPr lang="en-US" sz="5600" strike="noStrike" u="none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8217" y="2345602"/>
            <a:ext cx="11658461" cy="4741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4342" indent="-292171" lvl="1">
              <a:lnSpc>
                <a:spcPts val="3789"/>
              </a:lnSpc>
              <a:buFont typeface="Arial"/>
              <a:buChar char="•"/>
            </a:pPr>
            <a:r>
              <a:rPr lang="en-US" sz="27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</a:t>
            </a:r>
            <a:r>
              <a:rPr lang="en-US" sz="27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ncreasing volume of spam messages and phishing attacks targeting mobile users</a:t>
            </a:r>
          </a:p>
          <a:p>
            <a:pPr algn="l" marL="584342" indent="-292171" lvl="1">
              <a:lnSpc>
                <a:spcPts val="3789"/>
              </a:lnSpc>
              <a:buFont typeface="Arial"/>
              <a:buChar char="•"/>
            </a:pPr>
            <a:r>
              <a:rPr lang="en-US" sz="27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Traditional spam filters fail to detect sophisticated social engineering attacks</a:t>
            </a:r>
          </a:p>
          <a:p>
            <a:pPr algn="l" marL="584342" indent="-292171" lvl="1">
              <a:lnSpc>
                <a:spcPts val="3789"/>
              </a:lnSpc>
              <a:buFont typeface="Arial"/>
              <a:buChar char="•"/>
            </a:pPr>
            <a:r>
              <a:rPr lang="en-US" sz="27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Lack of accessible, user-friendly tools for Cambodian users to verify suspicious messages</a:t>
            </a:r>
          </a:p>
          <a:p>
            <a:pPr algn="l" marL="584342" indent="-292171" lvl="1">
              <a:lnSpc>
                <a:spcPts val="3789"/>
              </a:lnSpc>
              <a:buFont typeface="Arial"/>
              <a:buChar char="•"/>
            </a:pPr>
            <a:r>
              <a:rPr lang="en-US" sz="27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Voice-based scams are emerging but few solutions address voice message analysis</a:t>
            </a:r>
          </a:p>
          <a:p>
            <a:pPr algn="l" marL="584342" indent="-292171" lvl="1">
              <a:lnSpc>
                <a:spcPts val="3789"/>
              </a:lnSpc>
              <a:buFont typeface="Arial"/>
              <a:buChar char="•"/>
            </a:pPr>
            <a:r>
              <a:rPr lang="en-US" sz="27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Users often fall victim to brand impersonation and URL-based phishing attacks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9344" y="2190750"/>
            <a:ext cx="8218810" cy="4180217"/>
            <a:chOff x="0" y="0"/>
            <a:chExt cx="10958414" cy="55736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58414" cy="5573623"/>
            </a:xfrm>
            <a:custGeom>
              <a:avLst/>
              <a:gdLst/>
              <a:ahLst/>
              <a:cxnLst/>
              <a:rect r="r" b="b" t="t" l="l"/>
              <a:pathLst>
                <a:path h="5573623" w="10958414">
                  <a:moveTo>
                    <a:pt x="267872" y="0"/>
                  </a:moveTo>
                  <a:lnTo>
                    <a:pt x="10690541" y="0"/>
                  </a:lnTo>
                  <a:cubicBezTo>
                    <a:pt x="10838483" y="0"/>
                    <a:pt x="10958414" y="249540"/>
                    <a:pt x="10958414" y="557362"/>
                  </a:cubicBezTo>
                  <a:lnTo>
                    <a:pt x="10958414" y="5016260"/>
                  </a:lnTo>
                  <a:cubicBezTo>
                    <a:pt x="10958414" y="5324083"/>
                    <a:pt x="10838483" y="5573623"/>
                    <a:pt x="10690541" y="5573623"/>
                  </a:cubicBezTo>
                  <a:lnTo>
                    <a:pt x="267872" y="5573623"/>
                  </a:lnTo>
                  <a:cubicBezTo>
                    <a:pt x="119931" y="5573623"/>
                    <a:pt x="0" y="5324083"/>
                    <a:pt x="0" y="5016260"/>
                  </a:cubicBezTo>
                  <a:lnTo>
                    <a:pt x="0" y="557362"/>
                  </a:lnTo>
                  <a:cubicBezTo>
                    <a:pt x="0" y="249540"/>
                    <a:pt x="119931" y="0"/>
                    <a:pt x="267872" y="0"/>
                  </a:cubicBezTo>
                  <a:close/>
                </a:path>
              </a:pathLst>
            </a:custGeom>
            <a:solidFill>
              <a:srgbClr val="0A1A3A">
                <a:alpha val="69804"/>
              </a:srgbClr>
            </a:solidFill>
            <a:ln w="9525" cap="sq">
              <a:solidFill>
                <a:srgbClr val="59DAE4">
                  <a:alpha val="69804"/>
                </a:srgbClr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8804335" y="2190750"/>
            <a:ext cx="9238126" cy="6667500"/>
            <a:chOff x="0" y="0"/>
            <a:chExt cx="12317502" cy="889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17502" cy="8890000"/>
            </a:xfrm>
            <a:custGeom>
              <a:avLst/>
              <a:gdLst/>
              <a:ahLst/>
              <a:cxnLst/>
              <a:rect r="r" b="b" t="t" l="l"/>
              <a:pathLst>
                <a:path h="8890000" w="12317502">
                  <a:moveTo>
                    <a:pt x="588503" y="0"/>
                  </a:moveTo>
                  <a:lnTo>
                    <a:pt x="11728999" y="0"/>
                  </a:lnTo>
                  <a:cubicBezTo>
                    <a:pt x="12054020" y="0"/>
                    <a:pt x="12317502" y="398019"/>
                    <a:pt x="12317502" y="889000"/>
                  </a:cubicBezTo>
                  <a:lnTo>
                    <a:pt x="12317502" y="8001000"/>
                  </a:lnTo>
                  <a:cubicBezTo>
                    <a:pt x="12317502" y="8491981"/>
                    <a:pt x="12054020" y="8890000"/>
                    <a:pt x="11728999" y="8890000"/>
                  </a:cubicBezTo>
                  <a:lnTo>
                    <a:pt x="588503" y="8890000"/>
                  </a:lnTo>
                  <a:cubicBezTo>
                    <a:pt x="263482" y="8890000"/>
                    <a:pt x="0" y="8491981"/>
                    <a:pt x="0" y="8001000"/>
                  </a:cubicBezTo>
                  <a:lnTo>
                    <a:pt x="0" y="889000"/>
                  </a:lnTo>
                  <a:cubicBezTo>
                    <a:pt x="0" y="398019"/>
                    <a:pt x="263482" y="0"/>
                    <a:pt x="588503" y="0"/>
                  </a:cubicBezTo>
                  <a:close/>
                </a:path>
              </a:pathLst>
            </a:custGeom>
            <a:solidFill>
              <a:srgbClr val="0A1A3A">
                <a:alpha val="69804"/>
              </a:srgbClr>
            </a:solidFill>
            <a:ln w="9525" cap="sq">
              <a:solidFill>
                <a:srgbClr val="59DAE4">
                  <a:alpha val="69804"/>
                </a:srgbClr>
              </a:solidFill>
              <a:prstDash val="solid"/>
              <a:miter/>
            </a:ln>
          </p:spPr>
        </p:sp>
      </p:grpSp>
      <p:sp>
        <p:nvSpPr>
          <p:cNvPr name="AutoShape 7" id="7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71775" y="685800"/>
            <a:ext cx="14658975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56"/>
              </a:lnSpc>
              <a:spcBef>
                <a:spcPct val="0"/>
              </a:spcBef>
            </a:pPr>
            <a:r>
              <a:rPr lang="en-US" sz="5600" strike="noStrike" u="none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AIM AND OBJECTIVE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762500" y="1619250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35898" y="3373528"/>
            <a:ext cx="6719796" cy="2006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25"/>
              </a:lnSpc>
            </a:pPr>
            <a:r>
              <a:rPr lang="en-US" sz="2834" strike="noStrike" u="none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develop an AI-powered mobile application that detects spam, phishing,</a:t>
            </a:r>
          </a:p>
          <a:p>
            <a:pPr algn="l" marL="0" indent="0" lvl="0">
              <a:lnSpc>
                <a:spcPts val="4025"/>
              </a:lnSpc>
            </a:pPr>
            <a:r>
              <a:rPr lang="en-US" sz="2834" strike="noStrike" u="none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and social engineering threats in text and voice messages with high accuracy.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1677" y="2352675"/>
            <a:ext cx="1428750" cy="59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7"/>
              </a:lnSpc>
              <a:spcBef>
                <a:spcPct val="0"/>
              </a:spcBef>
            </a:pPr>
            <a:r>
              <a:rPr lang="en-US" sz="3807" strike="noStrike" u="none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AIM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29750" y="2362200"/>
            <a:ext cx="2857500" cy="47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7"/>
              </a:lnSpc>
              <a:spcBef>
                <a:spcPct val="0"/>
              </a:spcBef>
            </a:pPr>
            <a:r>
              <a:rPr lang="en-US" sz="2998" strike="noStrike" u="none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OBJECTIVE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51386" y="2847537"/>
            <a:ext cx="7905750" cy="5496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7926" indent="-303963" lvl="1">
              <a:lnSpc>
                <a:spcPts val="4420"/>
              </a:lnSpc>
              <a:spcBef>
                <a:spcPct val="0"/>
              </a:spcBef>
              <a:buFont typeface="Arial"/>
              <a:buChar char="•"/>
            </a:pPr>
            <a:r>
              <a:rPr lang="en-US" sz="2815" strike="noStrike" u="none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Provide real-time spam detection with 95%+ accuracy</a:t>
            </a:r>
          </a:p>
          <a:p>
            <a:pPr algn="just" marL="607926" indent="-303963" lvl="1">
              <a:lnSpc>
                <a:spcPts val="4420"/>
              </a:lnSpc>
              <a:spcBef>
                <a:spcPct val="0"/>
              </a:spcBef>
              <a:buFont typeface="Arial"/>
              <a:buChar char="•"/>
            </a:pPr>
            <a:r>
              <a:rPr lang="en-US" sz="2815" strike="noStrike" u="none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Detect phishing attempts including URL analysis and brand impersonation</a:t>
            </a:r>
          </a:p>
          <a:p>
            <a:pPr algn="just" marL="607926" indent="-303963" lvl="1">
              <a:lnSpc>
                <a:spcPts val="4420"/>
              </a:lnSpc>
              <a:spcBef>
                <a:spcPct val="0"/>
              </a:spcBef>
              <a:buFont typeface="Arial"/>
              <a:buChar char="•"/>
            </a:pPr>
            <a:r>
              <a:rPr lang="en-US" sz="2815" strike="noStrike" u="none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Support both text and voice message scanning</a:t>
            </a:r>
          </a:p>
          <a:p>
            <a:pPr algn="just" marL="607926" indent="-303963" lvl="1">
              <a:lnSpc>
                <a:spcPts val="4420"/>
              </a:lnSpc>
              <a:spcBef>
                <a:spcPct val="0"/>
              </a:spcBef>
              <a:buFont typeface="Arial"/>
              <a:buChar char="•"/>
            </a:pPr>
            <a:r>
              <a:rPr lang="en-US" sz="2815" strike="noStrike" u="none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Offer user-friendly mobile interface for easy threat verification</a:t>
            </a:r>
          </a:p>
          <a:p>
            <a:pPr algn="just" marL="607926" indent="-303963" lvl="1">
              <a:lnSpc>
                <a:spcPts val="4420"/>
              </a:lnSpc>
              <a:spcBef>
                <a:spcPct val="0"/>
              </a:spcBef>
              <a:buFont typeface="Arial"/>
              <a:buChar char="•"/>
            </a:pPr>
            <a:r>
              <a:rPr lang="en-US" sz="2815" strike="noStrike" u="none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Maintain scan history for user awareness and learning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LIMITation And Scope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755770" y="23114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91307" y="4398309"/>
            <a:ext cx="10553844" cy="156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8"/>
              </a:lnSpc>
            </a:pPr>
            <a:r>
              <a:rPr lang="en-US" sz="2699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Platform: Mobile application (iOS and Android via Flutter)</a:t>
            </a:r>
          </a:p>
          <a:p>
            <a:pPr algn="just">
              <a:lnSpc>
                <a:spcPts val="4238"/>
              </a:lnSpc>
            </a:pPr>
            <a:r>
              <a:rPr lang="en-US" sz="2699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Target: Individual users (not enterprise-level deployment)</a:t>
            </a:r>
          </a:p>
          <a:p>
            <a:pPr algn="just">
              <a:lnSpc>
                <a:spcPts val="4238"/>
              </a:lnSpc>
            </a:pPr>
            <a:r>
              <a:rPr lang="en-US" sz="2699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Language: Primarily English text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0731" y="3257785"/>
            <a:ext cx="5226879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440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Limitations: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LIMITation And Scope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755770" y="23114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30403" y="2646520"/>
            <a:ext cx="12209861" cy="629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5"/>
              </a:lnSpc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Core scam detection</a:t>
            </a: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 (ML-powered):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Text message spam detection (TF-IDF + Logistic Regression)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Voice message transcription &amp; analysis (multi-modal: speech-to-text + audio embeddings + prosody)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Phishing URL &amp; content detection, including brand impersonation &amp; homoglyph/lookalike detection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Email auto-scan over IMAP (Gmail / Outlook / Yahoo / custom), with scheduled background scanning</a:t>
            </a:r>
          </a:p>
          <a:p>
            <a:pPr algn="just">
              <a:lnSpc>
                <a:spcPts val="2925"/>
              </a:lnSpc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Security operations (SOC dashboard):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Threat, incident &amp; alert management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Automated response playbooks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Network activity monitoring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User behavior anomaly analysis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File scanning (scan-by-ID &amp; statistics; file upload + VirusTotal lookup planned)</a:t>
            </a:r>
          </a:p>
          <a:p>
            <a:pPr algn="just">
              <a:lnSpc>
                <a:spcPts val="2925"/>
              </a:lnSpc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Platform &amp; data: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Scan history management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User threat reporting system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Statistics &amp; analytics dashboard</a:t>
            </a:r>
          </a:p>
          <a:p>
            <a:pPr algn="just" marL="402295" indent="-201147" lvl="1">
              <a:lnSpc>
                <a:spcPts val="2925"/>
              </a:lnSpc>
              <a:buFont typeface="Arial"/>
              <a:buChar char="•"/>
            </a:pPr>
            <a:r>
              <a:rPr lang="en-US" sz="1863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Continuous learning: user feedback → model retraining loop</a:t>
            </a:r>
          </a:p>
          <a:p>
            <a:pPr algn="just">
              <a:lnSpc>
                <a:spcPts val="2925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634544" y="1906618"/>
            <a:ext cx="8242453" cy="46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290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Scopes (Features):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63894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73419" y="2341841"/>
          <a:ext cx="16995254" cy="6396187"/>
        </p:xfrm>
        <a:graphic>
          <a:graphicData uri="http://schemas.openxmlformats.org/drawingml/2006/table">
            <a:tbl>
              <a:tblPr/>
              <a:tblGrid>
                <a:gridCol w="3177819"/>
                <a:gridCol w="2488437"/>
                <a:gridCol w="7080184"/>
                <a:gridCol w="4248813"/>
              </a:tblGrid>
              <a:tr h="8383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Author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Result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27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Almeida et al. (2011) SMS Spam Collection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Naive Bayes,SVM,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Created UCI SMS Spam dataset  with 5,574 messages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97.5% accuracy with SVM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3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Sahami et al. (1998) - Bayesian Spam Filtering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Naive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Probabilistic approach to email spam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Foundation for modern spam filters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44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Mohammad et al. (2014) - Phishing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Machine Learning + URL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Feature extraction from URLs for phishing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92% detection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27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Gupta et al. (2021) - Deep Learning Spam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LSTM, BERT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Transformer-based text classification for spam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98.2% accuracy on benchmark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39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Vaswani et al. (2017) - Transformers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Attention Mechanism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Self-attention for NLP tasks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State-of-the-art in text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LITERATURE REVIEW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2638514" y="3204290"/>
          <a:ext cx="3771900" cy="4400550"/>
        </p:xfrm>
        <a:graphic>
          <a:graphicData uri="http://schemas.openxmlformats.org/presentationml/2006/ole">
            <p:oleObj imgW="4648200" imgH="5270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76047" y="2138378"/>
            <a:ext cx="6253541" cy="69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Technology Stack</a:t>
            </a:r>
          </a:p>
          <a:p>
            <a:pPr algn="l">
              <a:lnSpc>
                <a:spcPts val="2788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77742" y="1578932"/>
            <a:ext cx="13881629" cy="7373859"/>
          </a:xfrm>
          <a:custGeom>
            <a:avLst/>
            <a:gdLst/>
            <a:ahLst/>
            <a:cxnLst/>
            <a:rect r="r" b="b" t="t" l="l"/>
            <a:pathLst>
              <a:path h="7373859" w="13881629">
                <a:moveTo>
                  <a:pt x="0" y="0"/>
                </a:moveTo>
                <a:lnTo>
                  <a:pt x="13881628" y="0"/>
                </a:lnTo>
                <a:lnTo>
                  <a:pt x="13881628" y="7373859"/>
                </a:lnTo>
                <a:lnTo>
                  <a:pt x="0" y="7373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30" t="-3515" r="0" b="-728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1976047" y="3968177"/>
          <a:ext cx="11315700" cy="2514600"/>
        </p:xfrm>
        <a:graphic>
          <a:graphicData uri="http://schemas.openxmlformats.org/presentationml/2006/ole">
            <p:oleObj imgW="13576300" imgH="4775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191088" y="2610240"/>
            <a:ext cx="7655636" cy="768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16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 Sources &amp; Statistics</a:t>
            </a:r>
          </a:p>
          <a:p>
            <a:pPr algn="l">
              <a:lnSpc>
                <a:spcPts val="2032"/>
              </a:lnSpc>
            </a:pPr>
          </a:p>
          <a:p>
            <a:pPr algn="l">
              <a:lnSpc>
                <a:spcPts val="203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191088" y="3022761"/>
            <a:ext cx="1001490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We utilized three specialized datasets from HuggingFace for training our models: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18616" y="8106952"/>
            <a:ext cx="437852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Total Training Data: 14,600 samples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2555026" y="3903315"/>
          <a:ext cx="7543800" cy="2514600"/>
        </p:xfrm>
        <a:graphic>
          <a:graphicData uri="http://schemas.openxmlformats.org/presentationml/2006/ole">
            <p:oleObj imgW="9042400" imgH="4013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200400" y="2821023"/>
            <a:ext cx="7655636" cy="511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16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 Features</a:t>
            </a:r>
          </a:p>
          <a:p>
            <a:pPr algn="l">
              <a:lnSpc>
                <a:spcPts val="2032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200400" y="2782923"/>
            <a:ext cx="7655636" cy="670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19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 Split Strategy</a:t>
            </a: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968903" y="3777407"/>
            <a:ext cx="10380072" cy="220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0937" indent="-270469" lvl="1">
              <a:lnSpc>
                <a:spcPts val="3507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</a:t>
            </a: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rain/Test Split Ratio: 80% / 20%</a:t>
            </a:r>
          </a:p>
          <a:p>
            <a:pPr algn="l" marL="540937" indent="-270469" lvl="1">
              <a:lnSpc>
                <a:spcPts val="3507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Stratification: Enabled to maintain class distribution</a:t>
            </a:r>
          </a:p>
          <a:p>
            <a:pPr algn="l" marL="540937" indent="-270469" lvl="1">
              <a:lnSpc>
                <a:spcPts val="3507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Random State: 42 (for reproducibility)</a:t>
            </a:r>
          </a:p>
          <a:p>
            <a:pPr algn="l" marL="540937" indent="-270469" lvl="1">
              <a:lnSpc>
                <a:spcPts val="3507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Validation: held-out 20% test set (k-fold cross-validation planned as future work).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1446779" y="3841722"/>
          <a:ext cx="7543800" cy="2514600"/>
        </p:xfrm>
        <a:graphic>
          <a:graphicData uri="http://schemas.openxmlformats.org/presentationml/2006/ole">
            <p:oleObj imgW="9042400" imgH="4013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58258" y="2640074"/>
            <a:ext cx="1029071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Three Specialized Detection Models</a:t>
            </a:r>
          </a:p>
          <a:p>
            <a:pPr algn="l">
              <a:lnSpc>
                <a:spcPts val="2451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2795" y="7609310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2463030" y="3662505"/>
          <a:ext cx="5657850" cy="2514600"/>
        </p:xfrm>
        <a:graphic>
          <a:graphicData uri="http://schemas.openxmlformats.org/presentationml/2006/ole">
            <p:oleObj imgW="6781800" imgH="36449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58258" y="2640074"/>
            <a:ext cx="1029071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Three Specialized Detection Models</a:t>
            </a:r>
          </a:p>
          <a:p>
            <a:pPr algn="l">
              <a:lnSpc>
                <a:spcPts val="2451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63894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65015" y="466929"/>
            <a:ext cx="4703456" cy="8591836"/>
          </a:xfrm>
          <a:custGeom>
            <a:avLst/>
            <a:gdLst/>
            <a:ahLst/>
            <a:cxnLst/>
            <a:rect r="r" b="b" t="t" l="l"/>
            <a:pathLst>
              <a:path h="8591836" w="4703456">
                <a:moveTo>
                  <a:pt x="0" y="0"/>
                </a:moveTo>
                <a:lnTo>
                  <a:pt x="4703456" y="0"/>
                </a:lnTo>
                <a:lnTo>
                  <a:pt x="4703456" y="8591835"/>
                </a:lnTo>
                <a:lnTo>
                  <a:pt x="0" y="85918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373" t="0" r="-18055" b="-1127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835669" y="2811498"/>
            <a:ext cx="6386537" cy="99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TEXT PREPROCESSING PIPELINE</a:t>
            </a:r>
          </a:p>
          <a:p>
            <a:pPr algn="l">
              <a:lnSpc>
                <a:spcPts val="2771"/>
              </a:lnSpc>
            </a:pPr>
          </a:p>
          <a:p>
            <a:pPr algn="l">
              <a:lnSpc>
                <a:spcPts val="2451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4286696" y="3734223"/>
          <a:ext cx="7543800" cy="3143250"/>
        </p:xfrm>
        <a:graphic>
          <a:graphicData uri="http://schemas.openxmlformats.org/presentationml/2006/ole">
            <p:oleObj imgW="9042400" imgH="4648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835669" y="2811498"/>
            <a:ext cx="638653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FEATURE EXTRACTION</a:t>
            </a:r>
          </a:p>
          <a:p>
            <a:pPr algn="l">
              <a:lnSpc>
                <a:spcPts val="245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272918" y="7151812"/>
            <a:ext cx="202755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TF-IDF Formula: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10715" y="7151812"/>
            <a:ext cx="10187323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TF-IDF(t,d) = TF(t,d) × IDF(t)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Where: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- TF(t,d) = (Number of times term t appears in document d) / (Total terms in d)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- IDF(t) = log(Total documents / Documents containing term t)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6379" y="735763"/>
            <a:ext cx="6481867" cy="8125840"/>
          </a:xfrm>
          <a:custGeom>
            <a:avLst/>
            <a:gdLst/>
            <a:ahLst/>
            <a:cxnLst/>
            <a:rect r="r" b="b" t="t" l="l"/>
            <a:pathLst>
              <a:path h="8125840" w="6481867">
                <a:moveTo>
                  <a:pt x="0" y="0"/>
                </a:moveTo>
                <a:lnTo>
                  <a:pt x="6481866" y="0"/>
                </a:lnTo>
                <a:lnTo>
                  <a:pt x="6481866" y="8125840"/>
                </a:lnTo>
                <a:lnTo>
                  <a:pt x="0" y="812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453" r="0" b="-1727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058494" y="2792448"/>
            <a:ext cx="476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722408" y="2535614"/>
            <a:ext cx="8081731" cy="34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2"/>
              </a:lnSpc>
            </a:pPr>
            <a:r>
              <a:rPr lang="en-US" sz="21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TRAINING PROCESS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13048" y="3091533"/>
            <a:ext cx="2690892" cy="45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</a:t>
            </a:r>
            <a:r>
              <a:rPr lang="en-US" b="true" sz="2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aining Pipeline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6379" y="592443"/>
            <a:ext cx="4527542" cy="8466321"/>
          </a:xfrm>
          <a:custGeom>
            <a:avLst/>
            <a:gdLst/>
            <a:ahLst/>
            <a:cxnLst/>
            <a:rect r="r" b="b" t="t" l="l"/>
            <a:pathLst>
              <a:path h="8466321" w="4527542">
                <a:moveTo>
                  <a:pt x="0" y="0"/>
                </a:moveTo>
                <a:lnTo>
                  <a:pt x="4527542" y="0"/>
                </a:lnTo>
                <a:lnTo>
                  <a:pt x="4527542" y="8466321"/>
                </a:lnTo>
                <a:lnTo>
                  <a:pt x="0" y="84663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287" t="0" r="-17975" b="-616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058494" y="2792448"/>
            <a:ext cx="476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217854" y="2625841"/>
            <a:ext cx="7299510" cy="3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2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VOICE PROCESSING PIPELINE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1750938" y="3263435"/>
          <a:ext cx="9429750" cy="5029200"/>
        </p:xfrm>
        <a:graphic>
          <a:graphicData uri="http://schemas.openxmlformats.org/presentationml/2006/ole">
            <p:oleObj imgW="11315700" imgH="69088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7431189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API ENDPOINTS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058494" y="2792448"/>
            <a:ext cx="476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217854" y="2625841"/>
            <a:ext cx="7299510" cy="3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2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FastAPI ML Service Endpoints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38538" y="3253751"/>
            <a:ext cx="4018597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{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"is_spam": true,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"confidence": 0.9234,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"threat_level": "high",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"threat_indicators": [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  "urgency_language",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  "suspicious_url",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  "credential_request"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],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"model_used": "sms_classifier",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"processing_time_ms": 45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38538" y="2792448"/>
            <a:ext cx="326993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Response Format Example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08064" y="1501758"/>
            <a:ext cx="13742422" cy="7283484"/>
          </a:xfrm>
          <a:custGeom>
            <a:avLst/>
            <a:gdLst/>
            <a:ahLst/>
            <a:cxnLst/>
            <a:rect r="r" b="b" t="t" l="l"/>
            <a:pathLst>
              <a:path h="7283484" w="13742422">
                <a:moveTo>
                  <a:pt x="0" y="0"/>
                </a:moveTo>
                <a:lnTo>
                  <a:pt x="13742422" y="0"/>
                </a:lnTo>
                <a:lnTo>
                  <a:pt x="13742422" y="7283484"/>
                </a:lnTo>
                <a:lnTo>
                  <a:pt x="0" y="72834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RESULT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318173" y="3929965"/>
          <a:ext cx="11315700" cy="2514600"/>
        </p:xfrm>
        <a:graphic>
          <a:graphicData uri="http://schemas.openxmlformats.org/presentationml/2006/ole">
            <p:oleObj imgW="13576300" imgH="4775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6" id="6"/>
          <p:cNvGraphicFramePr/>
          <p:nvPr/>
        </p:nvGraphicFramePr>
        <p:xfrm>
          <a:off x="6369559" y="3929965"/>
          <a:ext cx="11315700" cy="2514600"/>
        </p:xfrm>
        <a:graphic>
          <a:graphicData uri="http://schemas.openxmlformats.org/presentationml/2006/ole">
            <p:oleObj imgW="13576300" imgH="47752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7" id="7"/>
          <p:cNvGraphicFramePr/>
          <p:nvPr/>
        </p:nvGraphicFramePr>
        <p:xfrm>
          <a:off x="12303914" y="3929965"/>
          <a:ext cx="11315700" cy="2514600"/>
        </p:xfrm>
        <a:graphic>
          <a:graphicData uri="http://schemas.openxmlformats.org/presentationml/2006/ole">
            <p:oleObj imgW="13576300" imgH="47752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RESULT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58258" y="1995358"/>
            <a:ext cx="1029071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Algorithm Comparison Results</a:t>
            </a:r>
          </a:p>
          <a:p>
            <a:pPr algn="l">
              <a:lnSpc>
                <a:spcPts val="245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469388" y="3053230"/>
            <a:ext cx="3479116" cy="28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</a:pPr>
            <a:r>
              <a:rPr lang="en-US" sz="1751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SMS Spam Detection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54502" y="3053230"/>
            <a:ext cx="3778997" cy="28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</a:pPr>
            <a:r>
              <a:rPr lang="en-US" sz="1751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Voice Scam Detection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42841" y="3053230"/>
            <a:ext cx="3212555" cy="28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</a:pPr>
            <a:r>
              <a:rPr lang="en-US" sz="1751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Phishing Detection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 flipH="true" flipV="true">
            <a:off x="6234640" y="3072280"/>
            <a:ext cx="0" cy="5948286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 flipV="true">
            <a:off x="12167425" y="3074938"/>
            <a:ext cx="0" cy="5945627"/>
          </a:xfrm>
          <a:prstGeom prst="line">
            <a:avLst/>
          </a:prstGeom>
          <a:ln cap="flat" w="3810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RESULT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82780" y="2592800"/>
            <a:ext cx="11440893" cy="4842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2"/>
              </a:lnSpc>
            </a:pPr>
            <a:r>
              <a:rPr lang="en-US" sz="3414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Key Features Implemented</a:t>
            </a:r>
          </a:p>
          <a:p>
            <a:pPr algn="l">
              <a:lnSpc>
                <a:spcPts val="4302"/>
              </a:lnSpc>
            </a:pP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Real-time text spam detection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Voice message transcription and analysis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Phishing URL detecti</a:t>
            </a: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on with threat level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Brand impersonation detection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User authentication and profile management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Scan history with statistics</a:t>
            </a:r>
          </a:p>
          <a:p>
            <a:pPr algn="l">
              <a:lnSpc>
                <a:spcPts val="4302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86075" y="2447925"/>
            <a:ext cx="35242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Metric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10325" y="2447925"/>
            <a:ext cx="1714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59DAE4"/>
                </a:solidFill>
                <a:latin typeface="Lora Bold"/>
                <a:ea typeface="Lora Bold"/>
                <a:cs typeface="Lora Bold"/>
                <a:sym typeface="Lora Bold"/>
              </a:rPr>
              <a:t>Target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24825" y="2447925"/>
            <a:ext cx="1714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59DAE4"/>
                </a:solidFill>
                <a:latin typeface="Lora Bold"/>
                <a:ea typeface="Lora Bold"/>
                <a:cs typeface="Lora Bold"/>
                <a:sym typeface="Lora Bold"/>
              </a:rPr>
              <a:t>Achieved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886075" y="2981325"/>
            <a:ext cx="6953250" cy="904875"/>
            <a:chOff x="0" y="0"/>
            <a:chExt cx="9271000" cy="1206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7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9271000">
                  <a:moveTo>
                    <a:pt x="0" y="0"/>
                  </a:moveTo>
                  <a:lnTo>
                    <a:pt x="9271000" y="0"/>
                  </a:lnTo>
                  <a:lnTo>
                    <a:pt x="9271000" y="1206500"/>
                  </a:lnTo>
                  <a:lnTo>
                    <a:pt x="0" y="12065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2886075" y="3257550"/>
            <a:ext cx="352425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Spam Detection Accuracy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10325" y="3257550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&gt; 95%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24825" y="3257550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99.68</a:t>
            </a: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%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886075" y="3886200"/>
            <a:ext cx="6953250" cy="904875"/>
            <a:chOff x="0" y="0"/>
            <a:chExt cx="9271000" cy="1206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7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9271000">
                  <a:moveTo>
                    <a:pt x="0" y="0"/>
                  </a:moveTo>
                  <a:lnTo>
                    <a:pt x="9271000" y="0"/>
                  </a:lnTo>
                  <a:lnTo>
                    <a:pt x="9271000" y="1206500"/>
                  </a:lnTo>
                  <a:lnTo>
                    <a:pt x="0" y="12065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2886075" y="4162425"/>
            <a:ext cx="352425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Phishing Detection Rate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10325" y="4162425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&gt; 78%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24825" y="4162425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80.95</a:t>
            </a: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%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886075" y="4791075"/>
            <a:ext cx="6953250" cy="904875"/>
            <a:chOff x="0" y="0"/>
            <a:chExt cx="9271000" cy="1206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7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9271000">
                  <a:moveTo>
                    <a:pt x="0" y="0"/>
                  </a:moveTo>
                  <a:lnTo>
                    <a:pt x="9271000" y="0"/>
                  </a:lnTo>
                  <a:lnTo>
                    <a:pt x="9271000" y="1206500"/>
                  </a:lnTo>
                  <a:lnTo>
                    <a:pt x="0" y="12065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2886075" y="5067300"/>
            <a:ext cx="352425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API Response Time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10325" y="5067300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&lt;100ms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24825" y="5067300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45ms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886075" y="5695950"/>
            <a:ext cx="6953250" cy="904875"/>
            <a:chOff x="0" y="0"/>
            <a:chExt cx="9271000" cy="1206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7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9271000">
                  <a:moveTo>
                    <a:pt x="0" y="0"/>
                  </a:moveTo>
                  <a:lnTo>
                    <a:pt x="9271000" y="0"/>
                  </a:lnTo>
                  <a:lnTo>
                    <a:pt x="9271000" y="1206500"/>
                  </a:lnTo>
                  <a:lnTo>
                    <a:pt x="0" y="12065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2886075" y="5972175"/>
            <a:ext cx="352425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Voice Processing Time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10325" y="5972175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&lt; 2s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24825" y="5972175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1.2s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886075" y="6600825"/>
            <a:ext cx="6953250" cy="904875"/>
            <a:chOff x="0" y="0"/>
            <a:chExt cx="9271000" cy="1206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27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9271000">
                  <a:moveTo>
                    <a:pt x="0" y="0"/>
                  </a:moveTo>
                  <a:lnTo>
                    <a:pt x="9271000" y="0"/>
                  </a:lnTo>
                  <a:lnTo>
                    <a:pt x="9271000" y="1206500"/>
                  </a:lnTo>
                  <a:lnTo>
                    <a:pt x="0" y="12065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86075" y="6877050"/>
            <a:ext cx="352425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False Positive Rate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10325" y="6877050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&lt; 5%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124825" y="6877050"/>
            <a:ext cx="1714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3.8%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RESULT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768217" y="1661030"/>
            <a:ext cx="7513024" cy="36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242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Evaluation Metrics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2882780" y="2322160"/>
            <a:ext cx="6953250" cy="666750"/>
            <a:chOff x="0" y="0"/>
            <a:chExt cx="9271000" cy="889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7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9271000">
                  <a:moveTo>
                    <a:pt x="0" y="0"/>
                  </a:moveTo>
                  <a:lnTo>
                    <a:pt x="9271000" y="0"/>
                  </a:lnTo>
                  <a:lnTo>
                    <a:pt x="9271000" y="889000"/>
                  </a:lnTo>
                  <a:lnTo>
                    <a:pt x="0" y="8890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139503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4525" y="9363075"/>
            <a:ext cx="37147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Discussion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6325" y="3133725"/>
            <a:ext cx="4429125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Classic ML matches transformer-level accuracy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6325" y="3676650"/>
            <a:ext cx="4314825" cy="1744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26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Logistic Regression and Random Forest with TF-IDF achieve comparable results to transformer models on short text at a fraction of the model size, consistent with Almeida et al. (2011).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2303788"/>
            <a:ext cx="703443" cy="769258"/>
            <a:chOff x="0" y="0"/>
            <a:chExt cx="812800" cy="8888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2734" y="48494"/>
              <a:ext cx="727332" cy="791859"/>
            </a:xfrm>
            <a:custGeom>
              <a:avLst/>
              <a:gdLst/>
              <a:ahLst/>
              <a:cxnLst/>
              <a:rect r="r" b="b" t="t" l="l"/>
              <a:pathLst>
                <a:path h="791859" w="727332">
                  <a:moveTo>
                    <a:pt x="437936" y="32725"/>
                  </a:moveTo>
                  <a:lnTo>
                    <a:pt x="695796" y="314710"/>
                  </a:lnTo>
                  <a:cubicBezTo>
                    <a:pt x="737844" y="360693"/>
                    <a:pt x="737844" y="431166"/>
                    <a:pt x="695796" y="477148"/>
                  </a:cubicBezTo>
                  <a:lnTo>
                    <a:pt x="437936" y="759133"/>
                  </a:lnTo>
                  <a:cubicBezTo>
                    <a:pt x="418871" y="779983"/>
                    <a:pt x="391919" y="791858"/>
                    <a:pt x="363666" y="791858"/>
                  </a:cubicBezTo>
                  <a:cubicBezTo>
                    <a:pt x="335413" y="791858"/>
                    <a:pt x="308461" y="779983"/>
                    <a:pt x="289396" y="759133"/>
                  </a:cubicBezTo>
                  <a:lnTo>
                    <a:pt x="31536" y="477148"/>
                  </a:lnTo>
                  <a:cubicBezTo>
                    <a:pt x="-10512" y="431166"/>
                    <a:pt x="-10512" y="360693"/>
                    <a:pt x="31536" y="314710"/>
                  </a:cubicBezTo>
                  <a:lnTo>
                    <a:pt x="289396" y="32725"/>
                  </a:lnTo>
                  <a:cubicBezTo>
                    <a:pt x="308461" y="11876"/>
                    <a:pt x="335413" y="0"/>
                    <a:pt x="363666" y="0"/>
                  </a:cubicBezTo>
                  <a:cubicBezTo>
                    <a:pt x="391919" y="0"/>
                    <a:pt x="418871" y="11876"/>
                    <a:pt x="437936" y="3272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114670"/>
              <a:ext cx="533400" cy="621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126400" y="2377705"/>
            <a:ext cx="4472367" cy="3118220"/>
            <a:chOff x="0" y="0"/>
            <a:chExt cx="5963156" cy="415762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59246" y="1125249"/>
              <a:ext cx="5903910" cy="668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9DAE4"/>
                  </a:solidFill>
                  <a:latin typeface="Mokoto"/>
                  <a:ea typeface="Mokoto"/>
                  <a:cs typeface="Mokoto"/>
                  <a:sym typeface="Mokoto"/>
                </a:rPr>
                <a:t>TF-IDF remains effective for SMS spam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9246" y="1854228"/>
              <a:ext cx="5749417" cy="2303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Despite advances in deep learning, TF-IDF with traditional ML achieves</a:t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     comparable results to transformer models for short text classification,</a:t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     similar to Almeida et al. (2011).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0"/>
              <a:ext cx="937924" cy="1025677"/>
              <a:chOff x="0" y="0"/>
              <a:chExt cx="812800" cy="88884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42734" y="48494"/>
                <a:ext cx="727332" cy="791859"/>
              </a:xfrm>
              <a:custGeom>
                <a:avLst/>
                <a:gdLst/>
                <a:ahLst/>
                <a:cxnLst/>
                <a:rect r="r" b="b" t="t" l="l"/>
                <a:pathLst>
                  <a:path h="791859" w="727332">
                    <a:moveTo>
                      <a:pt x="437936" y="32725"/>
                    </a:moveTo>
                    <a:lnTo>
                      <a:pt x="695796" y="314710"/>
                    </a:lnTo>
                    <a:cubicBezTo>
                      <a:pt x="737844" y="360693"/>
                      <a:pt x="737844" y="431166"/>
                      <a:pt x="695796" y="477148"/>
                    </a:cubicBezTo>
                    <a:lnTo>
                      <a:pt x="437936" y="759133"/>
                    </a:lnTo>
                    <a:cubicBezTo>
                      <a:pt x="418871" y="779983"/>
                      <a:pt x="391919" y="791858"/>
                      <a:pt x="363666" y="791858"/>
                    </a:cubicBezTo>
                    <a:cubicBezTo>
                      <a:pt x="335413" y="791858"/>
                      <a:pt x="308461" y="779983"/>
                      <a:pt x="289396" y="759133"/>
                    </a:cubicBezTo>
                    <a:lnTo>
                      <a:pt x="31536" y="477148"/>
                    </a:lnTo>
                    <a:cubicBezTo>
                      <a:pt x="-10512" y="431166"/>
                      <a:pt x="-10512" y="360693"/>
                      <a:pt x="31536" y="314710"/>
                    </a:cubicBezTo>
                    <a:lnTo>
                      <a:pt x="289396" y="32725"/>
                    </a:lnTo>
                    <a:cubicBezTo>
                      <a:pt x="308461" y="11876"/>
                      <a:pt x="335413" y="0"/>
                      <a:pt x="363666" y="0"/>
                    </a:cubicBezTo>
                    <a:cubicBezTo>
                      <a:pt x="391919" y="0"/>
                      <a:pt x="418871" y="11876"/>
                      <a:pt x="437936" y="32725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39700" y="114670"/>
                <a:ext cx="533400" cy="621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01</a:t>
                </a: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12586908" y="2306457"/>
            <a:ext cx="4472367" cy="3001314"/>
            <a:chOff x="0" y="0"/>
            <a:chExt cx="5963156" cy="4001751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59246" y="1125249"/>
              <a:ext cx="5903910" cy="668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9DAE4"/>
                  </a:solidFill>
                  <a:latin typeface="Mokoto"/>
                  <a:ea typeface="Mokoto"/>
                  <a:cs typeface="Mokoto"/>
                  <a:sym typeface="Mokoto"/>
                </a:rPr>
                <a:t>URL feature extraction is critical for phishing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2168252"/>
              <a:ext cx="5753100" cy="1833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826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Our 30+ feature extraction approach aligns with Mohammad et al. (2014),</a:t>
              </a:r>
            </a:p>
            <a:p>
              <a:pPr algn="just" marL="0" indent="0" lvl="0">
                <a:lnSpc>
                  <a:spcPts val="2826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     achieving 80.95% phishing detection accuracy with Random Forest.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0" y="0"/>
              <a:ext cx="937924" cy="1025677"/>
              <a:chOff x="0" y="0"/>
              <a:chExt cx="812800" cy="88884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42734" y="48494"/>
                <a:ext cx="727332" cy="791859"/>
              </a:xfrm>
              <a:custGeom>
                <a:avLst/>
                <a:gdLst/>
                <a:ahLst/>
                <a:cxnLst/>
                <a:rect r="r" b="b" t="t" l="l"/>
                <a:pathLst>
                  <a:path h="791859" w="727332">
                    <a:moveTo>
                      <a:pt x="437936" y="32725"/>
                    </a:moveTo>
                    <a:lnTo>
                      <a:pt x="695796" y="314710"/>
                    </a:lnTo>
                    <a:cubicBezTo>
                      <a:pt x="737844" y="360693"/>
                      <a:pt x="737844" y="431166"/>
                      <a:pt x="695796" y="477148"/>
                    </a:cubicBezTo>
                    <a:lnTo>
                      <a:pt x="437936" y="759133"/>
                    </a:lnTo>
                    <a:cubicBezTo>
                      <a:pt x="418871" y="779983"/>
                      <a:pt x="391919" y="791858"/>
                      <a:pt x="363666" y="791858"/>
                    </a:cubicBezTo>
                    <a:cubicBezTo>
                      <a:pt x="335413" y="791858"/>
                      <a:pt x="308461" y="779983"/>
                      <a:pt x="289396" y="759133"/>
                    </a:cubicBezTo>
                    <a:lnTo>
                      <a:pt x="31536" y="477148"/>
                    </a:lnTo>
                    <a:cubicBezTo>
                      <a:pt x="-10512" y="431166"/>
                      <a:pt x="-10512" y="360693"/>
                      <a:pt x="31536" y="314710"/>
                    </a:cubicBezTo>
                    <a:lnTo>
                      <a:pt x="289396" y="32725"/>
                    </a:lnTo>
                    <a:cubicBezTo>
                      <a:pt x="308461" y="11876"/>
                      <a:pt x="335413" y="0"/>
                      <a:pt x="363666" y="0"/>
                    </a:cubicBezTo>
                    <a:cubicBezTo>
                      <a:pt x="391919" y="0"/>
                      <a:pt x="418871" y="11876"/>
                      <a:pt x="437936" y="32725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39700" y="114670"/>
                <a:ext cx="533400" cy="621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01</a:t>
                </a: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3480216" y="5865742"/>
            <a:ext cx="4472367" cy="2765795"/>
            <a:chOff x="0" y="0"/>
            <a:chExt cx="5963156" cy="3687726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59246" y="1125249"/>
              <a:ext cx="5903910" cy="668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9DAE4"/>
                  </a:solidFill>
                  <a:latin typeface="Mokoto"/>
                  <a:ea typeface="Mokoto"/>
                  <a:cs typeface="Mokoto"/>
                  <a:sym typeface="Mokoto"/>
                </a:rPr>
                <a:t> Hybrid rule-based + ML improves explainability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59246" y="1854228"/>
              <a:ext cx="5749417" cy="1833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Unlike pure deep learning approaches, our hybrid method provides</a:t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     interpretable threat indicators to users.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0" y="0"/>
              <a:ext cx="937924" cy="1025677"/>
              <a:chOff x="0" y="0"/>
              <a:chExt cx="812800" cy="888846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42734" y="48494"/>
                <a:ext cx="727332" cy="791859"/>
              </a:xfrm>
              <a:custGeom>
                <a:avLst/>
                <a:gdLst/>
                <a:ahLst/>
                <a:cxnLst/>
                <a:rect r="r" b="b" t="t" l="l"/>
                <a:pathLst>
                  <a:path h="791859" w="727332">
                    <a:moveTo>
                      <a:pt x="437936" y="32725"/>
                    </a:moveTo>
                    <a:lnTo>
                      <a:pt x="695796" y="314710"/>
                    </a:lnTo>
                    <a:cubicBezTo>
                      <a:pt x="737844" y="360693"/>
                      <a:pt x="737844" y="431166"/>
                      <a:pt x="695796" y="477148"/>
                    </a:cubicBezTo>
                    <a:lnTo>
                      <a:pt x="437936" y="759133"/>
                    </a:lnTo>
                    <a:cubicBezTo>
                      <a:pt x="418871" y="779983"/>
                      <a:pt x="391919" y="791858"/>
                      <a:pt x="363666" y="791858"/>
                    </a:cubicBezTo>
                    <a:cubicBezTo>
                      <a:pt x="335413" y="791858"/>
                      <a:pt x="308461" y="779983"/>
                      <a:pt x="289396" y="759133"/>
                    </a:cubicBezTo>
                    <a:lnTo>
                      <a:pt x="31536" y="477148"/>
                    </a:lnTo>
                    <a:cubicBezTo>
                      <a:pt x="-10512" y="431166"/>
                      <a:pt x="-10512" y="360693"/>
                      <a:pt x="31536" y="314710"/>
                    </a:cubicBezTo>
                    <a:lnTo>
                      <a:pt x="289396" y="32725"/>
                    </a:lnTo>
                    <a:cubicBezTo>
                      <a:pt x="308461" y="11876"/>
                      <a:pt x="335413" y="0"/>
                      <a:pt x="363666" y="0"/>
                    </a:cubicBezTo>
                    <a:cubicBezTo>
                      <a:pt x="391919" y="0"/>
                      <a:pt x="418871" y="11876"/>
                      <a:pt x="437936" y="32725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39700" y="114670"/>
                <a:ext cx="533400" cy="621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01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9184207" y="5865742"/>
            <a:ext cx="4472367" cy="2765795"/>
            <a:chOff x="0" y="0"/>
            <a:chExt cx="5963156" cy="3687726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59246" y="1125249"/>
              <a:ext cx="5903910" cy="668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9DAE4"/>
                  </a:solidFill>
                  <a:latin typeface="Mokoto"/>
                  <a:ea typeface="Mokoto"/>
                  <a:cs typeface="Mokoto"/>
                  <a:sym typeface="Mokoto"/>
                </a:rPr>
                <a:t>Voice transcription adds value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59246" y="1854228"/>
              <a:ext cx="5749417" cy="1833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Extending spam detection to voice messages addresses a gap in existing</a:t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     research, as most studies focus only on text.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0" y="0"/>
              <a:ext cx="937924" cy="1025677"/>
              <a:chOff x="0" y="0"/>
              <a:chExt cx="812800" cy="888846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42734" y="48494"/>
                <a:ext cx="727332" cy="791859"/>
              </a:xfrm>
              <a:custGeom>
                <a:avLst/>
                <a:gdLst/>
                <a:ahLst/>
                <a:cxnLst/>
                <a:rect r="r" b="b" t="t" l="l"/>
                <a:pathLst>
                  <a:path h="791859" w="727332">
                    <a:moveTo>
                      <a:pt x="437936" y="32725"/>
                    </a:moveTo>
                    <a:lnTo>
                      <a:pt x="695796" y="314710"/>
                    </a:lnTo>
                    <a:cubicBezTo>
                      <a:pt x="737844" y="360693"/>
                      <a:pt x="737844" y="431166"/>
                      <a:pt x="695796" y="477148"/>
                    </a:cubicBezTo>
                    <a:lnTo>
                      <a:pt x="437936" y="759133"/>
                    </a:lnTo>
                    <a:cubicBezTo>
                      <a:pt x="418871" y="779983"/>
                      <a:pt x="391919" y="791858"/>
                      <a:pt x="363666" y="791858"/>
                    </a:cubicBezTo>
                    <a:cubicBezTo>
                      <a:pt x="335413" y="791858"/>
                      <a:pt x="308461" y="779983"/>
                      <a:pt x="289396" y="759133"/>
                    </a:cubicBezTo>
                    <a:lnTo>
                      <a:pt x="31536" y="477148"/>
                    </a:lnTo>
                    <a:cubicBezTo>
                      <a:pt x="-10512" y="431166"/>
                      <a:pt x="-10512" y="360693"/>
                      <a:pt x="31536" y="314710"/>
                    </a:cubicBezTo>
                    <a:lnTo>
                      <a:pt x="289396" y="32725"/>
                    </a:lnTo>
                    <a:cubicBezTo>
                      <a:pt x="308461" y="11876"/>
                      <a:pt x="335413" y="0"/>
                      <a:pt x="363666" y="0"/>
                    </a:cubicBezTo>
                    <a:cubicBezTo>
                      <a:pt x="391919" y="0"/>
                      <a:pt x="418871" y="11876"/>
                      <a:pt x="437936" y="32725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39700" y="114670"/>
                <a:ext cx="533400" cy="621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01</a:t>
                </a:r>
              </a:p>
            </p:txBody>
          </p:sp>
        </p:grpSp>
      </p:grpSp>
      <p:sp>
        <p:nvSpPr>
          <p:cNvPr name="Freeform 38" id="38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47950" y="2447925"/>
            <a:ext cx="3619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59DAE4"/>
                </a:solidFill>
                <a:latin typeface="Lora Bold"/>
                <a:ea typeface="Lora Bold"/>
                <a:cs typeface="Lora Bold"/>
                <a:sym typeface="Lora Bold"/>
              </a:rPr>
              <a:t>Aspect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57925" y="2447925"/>
            <a:ext cx="50006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59DAE4"/>
                </a:solidFill>
                <a:latin typeface="Lora Bold"/>
                <a:ea typeface="Lora Bold"/>
                <a:cs typeface="Lora Bold"/>
                <a:sym typeface="Lora Bold"/>
              </a:rPr>
              <a:t>Previous 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58550" y="2447925"/>
            <a:ext cx="50006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59DAE4"/>
                </a:solidFill>
                <a:latin typeface="Lora Bold"/>
                <a:ea typeface="Lora Bold"/>
                <a:cs typeface="Lora Bold"/>
                <a:sym typeface="Lora Bold"/>
              </a:rPr>
              <a:t>Our System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647950" y="2981325"/>
            <a:ext cx="13620750" cy="904875"/>
            <a:chOff x="0" y="0"/>
            <a:chExt cx="18161000" cy="1206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16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18161000">
                  <a:moveTo>
                    <a:pt x="0" y="0"/>
                  </a:moveTo>
                  <a:lnTo>
                    <a:pt x="18161000" y="0"/>
                  </a:lnTo>
                  <a:lnTo>
                    <a:pt x="18161000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061230"/>
            </a:solidFill>
            <a:ln w="9525" cap="sq">
              <a:solidFill>
                <a:srgbClr val="59DAE4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2647950" y="3257550"/>
            <a:ext cx="3619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Modality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57925" y="3257550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Text only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58550" y="3257550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Text + Voice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647950" y="3886200"/>
            <a:ext cx="13620750" cy="904875"/>
            <a:chOff x="0" y="0"/>
            <a:chExt cx="18161000" cy="1206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16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18161000">
                  <a:moveTo>
                    <a:pt x="0" y="0"/>
                  </a:moveTo>
                  <a:lnTo>
                    <a:pt x="18161000" y="0"/>
                  </a:lnTo>
                  <a:lnTo>
                    <a:pt x="18161000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0A1A3A"/>
            </a:solidFill>
            <a:ln w="9525" cap="sq">
              <a:solidFill>
                <a:srgbClr val="59DAE4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2647950" y="4162425"/>
            <a:ext cx="3619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Platform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57925" y="4162425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Desktop/Server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58550" y="4162425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Mobile-first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647950" y="4791075"/>
            <a:ext cx="13620750" cy="904875"/>
            <a:chOff x="0" y="0"/>
            <a:chExt cx="18161000" cy="1206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16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18161000">
                  <a:moveTo>
                    <a:pt x="0" y="0"/>
                  </a:moveTo>
                  <a:lnTo>
                    <a:pt x="18161000" y="0"/>
                  </a:lnTo>
                  <a:lnTo>
                    <a:pt x="18161000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061230"/>
            </a:solidFill>
            <a:ln w="9525" cap="sq">
              <a:solidFill>
                <a:srgbClr val="59DAE4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2647950" y="5067300"/>
            <a:ext cx="3619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Detection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57925" y="5067300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Spam only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58550" y="5067300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Interpretable indicators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647950" y="5695950"/>
            <a:ext cx="13620750" cy="904875"/>
            <a:chOff x="0" y="0"/>
            <a:chExt cx="18161000" cy="1206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16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18161000">
                  <a:moveTo>
                    <a:pt x="0" y="0"/>
                  </a:moveTo>
                  <a:lnTo>
                    <a:pt x="18161000" y="0"/>
                  </a:lnTo>
                  <a:lnTo>
                    <a:pt x="18161000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0A1A3A"/>
            </a:solidFill>
            <a:ln w="9525" cap="sq">
              <a:solidFill>
                <a:srgbClr val="59DAE4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2647950" y="5972175"/>
            <a:ext cx="3619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Explainability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257925" y="5972175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Black box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58550" y="5972175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Interpretable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647950" y="6600825"/>
            <a:ext cx="13620750" cy="904875"/>
            <a:chOff x="0" y="0"/>
            <a:chExt cx="18161000" cy="1206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1610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18161000">
                  <a:moveTo>
                    <a:pt x="0" y="0"/>
                  </a:moveTo>
                  <a:lnTo>
                    <a:pt x="18161000" y="0"/>
                  </a:lnTo>
                  <a:lnTo>
                    <a:pt x="18161000" y="1206500"/>
                  </a:lnTo>
                  <a:lnTo>
                    <a:pt x="0" y="1206500"/>
                  </a:lnTo>
                  <a:close/>
                </a:path>
              </a:pathLst>
            </a:custGeom>
            <a:solidFill>
              <a:srgbClr val="061230"/>
            </a:solidFill>
            <a:ln w="9525" cap="sq">
              <a:solidFill>
                <a:srgbClr val="59DAE4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647950" y="6877050"/>
            <a:ext cx="36195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Real-time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257925" y="6877050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Batch processing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258550" y="6877050"/>
            <a:ext cx="500062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Real-time API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Discussion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651042" y="1819175"/>
            <a:ext cx="542242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COMPARISON WITH PREVIOUS RESEARCH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2647950" y="2314575"/>
            <a:ext cx="13620750" cy="666750"/>
            <a:chOff x="0" y="0"/>
            <a:chExt cx="18161000" cy="889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16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18161000">
                  <a:moveTo>
                    <a:pt x="0" y="0"/>
                  </a:moveTo>
                  <a:lnTo>
                    <a:pt x="18161000" y="0"/>
                  </a:lnTo>
                  <a:lnTo>
                    <a:pt x="18161000" y="889000"/>
                  </a:lnTo>
                  <a:lnTo>
                    <a:pt x="0" y="889000"/>
                  </a:lnTo>
                  <a:close/>
                </a:path>
              </a:pathLst>
            </a:custGeom>
            <a:ln w="9525" cap="sq">
              <a:solidFill>
                <a:srgbClr val="59DAE4"/>
              </a:solidFill>
              <a:prstDash val="solid"/>
              <a:miter/>
            </a:ln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2179" y="2607073"/>
            <a:ext cx="7616335" cy="555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STRENGTHS OF THE STUDY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Achieved 99.68% spam detection accuracy exceeding target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Multi-modal support (text + voice) addresses market gap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Mobile-first design provides accessible user experience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Hybrid ML approach balances accuracy and explainability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Comprehensive phishing detection with brand impersonation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LIMITATIONS OF THE STUDY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Currently optimized for English language only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Voice transcription accuracy depends on audio quality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Requires internet connection for ML inference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Limited training data for Khmer language spam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23205" y="2235598"/>
            <a:ext cx="8099123" cy="629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SIGNIFICANCE OF THE STUDY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Provides accessible cybersecurity tool for general users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Demonstrates practical application of ML in mobile security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Contributes to spam/phishing detection research with multi-modal approach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Offers framework for future development and research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FUTURE RESEARCH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Extend support for Khmer language detection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Implement on-device ML for offline functionality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Add real-time SMS/call screening integration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Develop browser extension for web-based phishing protection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Explore federated learning for privacy-preserving model updates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3419" y="466929"/>
            <a:ext cx="1077518" cy="1390346"/>
          </a:xfrm>
          <a:custGeom>
            <a:avLst/>
            <a:gdLst/>
            <a:ahLst/>
            <a:cxnLst/>
            <a:rect r="r" b="b" t="t" l="l"/>
            <a:pathLst>
              <a:path h="1390346" w="1077518">
                <a:moveTo>
                  <a:pt x="0" y="0"/>
                </a:moveTo>
                <a:lnTo>
                  <a:pt x="1077519" y="0"/>
                </a:lnTo>
                <a:lnTo>
                  <a:pt x="1077519" y="1390346"/>
                </a:lnTo>
                <a:lnTo>
                  <a:pt x="0" y="1390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 rot="0">
            <a:off x="0" y="4015"/>
            <a:ext cx="18288000" cy="1027897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12555" y="656100"/>
            <a:ext cx="9272840" cy="9272840"/>
          </a:xfrm>
          <a:custGeom>
            <a:avLst/>
            <a:gdLst/>
            <a:ahLst/>
            <a:cxnLst/>
            <a:rect r="r" b="b" t="t" l="l"/>
            <a:pathLst>
              <a:path h="9272840" w="9272840">
                <a:moveTo>
                  <a:pt x="0" y="0"/>
                </a:moveTo>
                <a:lnTo>
                  <a:pt x="9272840" y="0"/>
                </a:lnTo>
                <a:lnTo>
                  <a:pt x="9272840" y="9272840"/>
                </a:lnTo>
                <a:lnTo>
                  <a:pt x="0" y="92728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173356" y="1988112"/>
            <a:ext cx="6608816" cy="660881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344322" y="2159078"/>
            <a:ext cx="6266885" cy="626688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46139" y="2360895"/>
            <a:ext cx="5863250" cy="58632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-3333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546139" y="7164978"/>
            <a:ext cx="1431950" cy="143195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790440" y="7409278"/>
            <a:ext cx="943350" cy="943350"/>
          </a:xfrm>
          <a:custGeom>
            <a:avLst/>
            <a:gdLst/>
            <a:ahLst/>
            <a:cxnLst/>
            <a:rect r="r" b="b" t="t" l="l"/>
            <a:pathLst>
              <a:path h="943350" w="943350">
                <a:moveTo>
                  <a:pt x="0" y="0"/>
                </a:moveTo>
                <a:lnTo>
                  <a:pt x="943350" y="0"/>
                </a:lnTo>
                <a:lnTo>
                  <a:pt x="943350" y="943350"/>
                </a:lnTo>
                <a:lnTo>
                  <a:pt x="0" y="943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6327484"/>
            <a:ext cx="4735081" cy="732550"/>
            <a:chOff x="0" y="0"/>
            <a:chExt cx="1247100" cy="1929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7100" cy="192935"/>
            </a:xfrm>
            <a:custGeom>
              <a:avLst/>
              <a:gdLst/>
              <a:ahLst/>
              <a:cxnLst/>
              <a:rect r="r" b="b" t="t" l="l"/>
              <a:pathLst>
                <a:path h="192935" w="1247100">
                  <a:moveTo>
                    <a:pt x="29430" y="0"/>
                  </a:moveTo>
                  <a:lnTo>
                    <a:pt x="1217669" y="0"/>
                  </a:lnTo>
                  <a:cubicBezTo>
                    <a:pt x="1225475" y="0"/>
                    <a:pt x="1232960" y="3101"/>
                    <a:pt x="1238480" y="8620"/>
                  </a:cubicBezTo>
                  <a:cubicBezTo>
                    <a:pt x="1243999" y="14139"/>
                    <a:pt x="1247100" y="21625"/>
                    <a:pt x="1247100" y="29430"/>
                  </a:cubicBezTo>
                  <a:lnTo>
                    <a:pt x="1247100" y="163505"/>
                  </a:lnTo>
                  <a:cubicBezTo>
                    <a:pt x="1247100" y="171310"/>
                    <a:pt x="1243999" y="178796"/>
                    <a:pt x="1238480" y="184315"/>
                  </a:cubicBezTo>
                  <a:cubicBezTo>
                    <a:pt x="1232960" y="189834"/>
                    <a:pt x="1225475" y="192935"/>
                    <a:pt x="1217669" y="192935"/>
                  </a:cubicBezTo>
                  <a:lnTo>
                    <a:pt x="29430" y="192935"/>
                  </a:lnTo>
                  <a:cubicBezTo>
                    <a:pt x="13176" y="192935"/>
                    <a:pt x="0" y="179759"/>
                    <a:pt x="0" y="163505"/>
                  </a:cubicBezTo>
                  <a:lnTo>
                    <a:pt x="0" y="29430"/>
                  </a:lnTo>
                  <a:cubicBezTo>
                    <a:pt x="0" y="21625"/>
                    <a:pt x="3101" y="14139"/>
                    <a:pt x="8620" y="8620"/>
                  </a:cubicBezTo>
                  <a:cubicBezTo>
                    <a:pt x="14139" y="3101"/>
                    <a:pt x="21625" y="0"/>
                    <a:pt x="2943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47100" cy="231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831677" y="7966332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2"/>
                </a:lnTo>
                <a:lnTo>
                  <a:pt x="0" y="9192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3190334"/>
            <a:ext cx="6728482" cy="283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3"/>
              </a:lnSpc>
            </a:pPr>
            <a:r>
              <a:rPr lang="en-US" sz="88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Thank You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5035" y="6353717"/>
            <a:ext cx="4108771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For the attention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29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5603370" y="21590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-459631" y="0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2" y="0"/>
                </a:lnTo>
                <a:lnTo>
                  <a:pt x="919262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DAHHXg2hQoE</dc:identifier>
  <dcterms:modified xsi:type="dcterms:W3CDTF">2011-08-01T06:04:30Z</dcterms:modified>
  <cp:revision>1</cp:revision>
  <dc:title>ai-scam-shield</dc:title>
</cp:coreProperties>
</file>