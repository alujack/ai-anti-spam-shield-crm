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Mokoto" charset="1" panose="00000000000000000000"/>
      <p:regular r:id="rId39"/>
    </p:embeddedFont>
    <p:embeddedFont>
      <p:font typeface="Lora Bold" charset="1" panose="00000800000000000000"/>
      <p:regular r:id="rId40"/>
    </p:embeddedFont>
    <p:embeddedFont>
      <p:font typeface="Lora" charset="1" panose="00000500000000000000"/>
      <p:regular r:id="rId41"/>
    </p:embeddedFont>
    <p:embeddedFont>
      <p:font typeface="Canva Sans Bold" charset="1" panose="020B0803030501040103"/>
      <p:regular r:id="rId42"/>
    </p:embeddedFont>
    <p:embeddedFont>
      <p:font typeface="Agrandir" charset="1" panose="00000500000000000000"/>
      <p:regular r:id="rId43"/>
    </p:embeddedFont>
    <p:embeddedFont>
      <p:font typeface="Arimo Bold" charset="1" panose="020B0704020202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1.png"/><Relationship Id="rId7" Type="http://schemas.openxmlformats.org/officeDocument/2006/relationships/oleObject" Target="../embeddings/oleObject1.bin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2.png"/><Relationship Id="rId7" Type="http://schemas.openxmlformats.org/officeDocument/2006/relationships/oleObject" Target="../embeddings/oleObject2.bin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3.png"/><Relationship Id="rId7" Type="http://schemas.openxmlformats.org/officeDocument/2006/relationships/oleObject" Target="../embeddings/oleObject3.bin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4.png"/><Relationship Id="rId7" Type="http://schemas.openxmlformats.org/officeDocument/2006/relationships/oleObject" Target="../embeddings/oleObject4.bin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5.png"/><Relationship Id="rId7" Type="http://schemas.openxmlformats.org/officeDocument/2006/relationships/oleObject" Target="../embeddings/oleObject5.bin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6.png"/><Relationship Id="rId7" Type="http://schemas.openxmlformats.org/officeDocument/2006/relationships/oleObject" Target="../embeddings/oleObject6.bin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7.png"/><Relationship Id="rId7" Type="http://schemas.openxmlformats.org/officeDocument/2006/relationships/oleObject" Target="../embeddings/oleObject7.bin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8.png"/><Relationship Id="rId7" Type="http://schemas.openxmlformats.org/officeDocument/2006/relationships/oleObject" Target="../embeddings/oleObject8.bin"/><Relationship Id="rId8" Type="http://schemas.openxmlformats.org/officeDocument/2006/relationships/image" Target="../media/image19.png"/><Relationship Id="rId9" Type="http://schemas.openxmlformats.org/officeDocument/2006/relationships/oleObject" Target="../embeddings/oleObject9.bin"/><Relationship Id="rId10" Type="http://schemas.openxmlformats.org/officeDocument/2006/relationships/image" Target="../media/image20.png"/><Relationship Id="rId11" Type="http://schemas.openxmlformats.org/officeDocument/2006/relationships/oleObject" Target="../embeddings/oleObject10.bin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2.png"/><Relationship Id="rId7" Type="http://schemas.openxmlformats.org/officeDocument/2006/relationships/oleObject" Target="../embeddings/oleObject11.bin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3.png"/><Relationship Id="rId7" Type="http://schemas.openxmlformats.org/officeDocument/2006/relationships/oleObject" Target="../embeddings/oleObject12.bin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6.png"/><Relationship Id="rId7" Type="http://schemas.openxmlformats.org/officeDocument/2006/relationships/oleObject" Target="../embeddings/oleObject13.bin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27.jpeg"/><Relationship Id="rId7" Type="http://schemas.openxmlformats.org/officeDocument/2006/relationships/image" Target="../media/image28.jpeg"/><Relationship Id="rId8" Type="http://schemas.openxmlformats.org/officeDocument/2006/relationships/image" Target="../media/image29.jpeg"/><Relationship Id="rId9" Type="http://schemas.openxmlformats.org/officeDocument/2006/relationships/image" Target="../media/image30.jpeg"/><Relationship Id="rId10" Type="http://schemas.openxmlformats.org/officeDocument/2006/relationships/image" Target="../media/image31.jpeg"/><Relationship Id="rId11" Type="http://schemas.openxmlformats.org/officeDocument/2006/relationships/image" Target="../media/image32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33.jpe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712555" y="656100"/>
            <a:ext cx="9272840" cy="9272840"/>
          </a:xfrm>
          <a:custGeom>
            <a:avLst/>
            <a:gdLst/>
            <a:ahLst/>
            <a:cxnLst/>
            <a:rect r="r" b="b" t="t" l="l"/>
            <a:pathLst>
              <a:path h="9272840" w="9272840">
                <a:moveTo>
                  <a:pt x="0" y="0"/>
                </a:moveTo>
                <a:lnTo>
                  <a:pt x="9272840" y="0"/>
                </a:lnTo>
                <a:lnTo>
                  <a:pt x="9272840" y="9272840"/>
                </a:lnTo>
                <a:lnTo>
                  <a:pt x="0" y="927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7532243" y="6693303"/>
            <a:ext cx="1431950" cy="143195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796843" y="6937603"/>
            <a:ext cx="943350" cy="943350"/>
          </a:xfrm>
          <a:custGeom>
            <a:avLst/>
            <a:gdLst/>
            <a:ahLst/>
            <a:cxnLst/>
            <a:rect r="r" b="b" t="t" l="l"/>
            <a:pathLst>
              <a:path h="943350" w="943350">
                <a:moveTo>
                  <a:pt x="0" y="0"/>
                </a:moveTo>
                <a:lnTo>
                  <a:pt x="943350" y="0"/>
                </a:lnTo>
                <a:lnTo>
                  <a:pt x="943350" y="943350"/>
                </a:lnTo>
                <a:lnTo>
                  <a:pt x="0" y="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5603370" y="21590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440446"/>
            <a:ext cx="1680776" cy="1718631"/>
          </a:xfrm>
          <a:custGeom>
            <a:avLst/>
            <a:gdLst/>
            <a:ahLst/>
            <a:cxnLst/>
            <a:rect r="r" b="b" t="t" l="l"/>
            <a:pathLst>
              <a:path h="1718631" w="1680776">
                <a:moveTo>
                  <a:pt x="0" y="0"/>
                </a:moveTo>
                <a:lnTo>
                  <a:pt x="1680776" y="0"/>
                </a:lnTo>
                <a:lnTo>
                  <a:pt x="1680776" y="1718632"/>
                </a:lnTo>
                <a:lnTo>
                  <a:pt x="0" y="171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1082428" y="926650"/>
            <a:ext cx="4296724" cy="7958944"/>
          </a:xfrm>
          <a:custGeom>
            <a:avLst/>
            <a:gdLst/>
            <a:ahLst/>
            <a:cxnLst/>
            <a:rect r="r" b="b" t="t" l="l"/>
            <a:pathLst>
              <a:path h="7958944" w="4296724">
                <a:moveTo>
                  <a:pt x="0" y="0"/>
                </a:moveTo>
                <a:lnTo>
                  <a:pt x="4296724" y="0"/>
                </a:lnTo>
                <a:lnTo>
                  <a:pt x="4296724" y="7958944"/>
                </a:lnTo>
                <a:lnTo>
                  <a:pt x="0" y="79589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8429" t="-3565" r="-49530" b="-3305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28700" y="3745601"/>
            <a:ext cx="8777378" cy="213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1"/>
              </a:lnSpc>
            </a:pPr>
            <a:r>
              <a:rPr lang="en-US" sz="66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AI SCAM SHIELD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1307" y="6073750"/>
            <a:ext cx="3445553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3578" y="6055323"/>
            <a:ext cx="6063001" cy="80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4"/>
              </a:lnSpc>
            </a:pPr>
            <a:r>
              <a:rPr lang="en-US" sz="23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  <a:r>
              <a:rPr lang="en-US" b="true" sz="233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Practicum Presentation</a:t>
            </a:r>
          </a:p>
          <a:p>
            <a:pPr algn="just">
              <a:lnSpc>
                <a:spcPts val="3274"/>
              </a:lnSpc>
            </a:pPr>
            <a:r>
              <a:rPr lang="en-US" b="true" sz="233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Lecturer: Mr. Chhim Bunchhun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53513" y="987730"/>
            <a:ext cx="5115005" cy="45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  <a:spcBef>
                <a:spcPct val="0"/>
              </a:spcBef>
            </a:pPr>
            <a:r>
              <a:rPr lang="en-US" sz="2702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Royal University of Phnom Penh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5729432" y="216175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569069" y="216175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4815940" y="8139503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6867609" y="9294847"/>
            <a:ext cx="455278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94847"/>
            <a:ext cx="370816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294847"/>
            <a:ext cx="370816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11665" y="1828665"/>
            <a:ext cx="7106229" cy="185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7"/>
              </a:lnSpc>
            </a:pPr>
            <a:r>
              <a:rPr lang="en-US" sz="57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Table of 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8311" y="4260969"/>
            <a:ext cx="6402059" cy="174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Literature Review</a:t>
            </a: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/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0370" y="4318119"/>
            <a:ext cx="5315570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404013" y="2236470"/>
            <a:ext cx="9073401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 the digital age, spam and phishing attacks have become increasingly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sophisticated, posing significant threats to individuals and organizations.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Cambodia has seen a rise in SMS scams, fraudulent messages, and phishing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attempts targeting mobile users. Traditional rule-based spam filters are no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longer sufficient to combat these evolving threats, creating a need for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intelligent, AI-powered detection systems.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1420391" y="2879464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7333884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PROBLEM STATEMENTS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68217" y="2336077"/>
            <a:ext cx="12434839" cy="58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Increasing volume of spam messages and phishing attacks targeting mobile users</a:t>
            </a: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/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Traditional spam filters fail to detect sophisticated social engineering attacks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Lack of accessible, user-friendly tools for Cambodian users to verify suspicious messages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Voice-based scams are emerging but few solutions address voice message analysis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Users often fall victim to brand impersonation and URL-based phishing attacks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Aim and Objectives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3504651" y="2264347"/>
            <a:ext cx="6738729" cy="182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7"/>
              </a:lnSpc>
            </a:pPr>
            <a:r>
              <a:rPr lang="en-US" sz="236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To develop an AI-powered mobile application that detects spam, phishing,</a:t>
            </a:r>
          </a:p>
          <a:p>
            <a:pPr algn="just">
              <a:lnSpc>
                <a:spcPts val="3707"/>
              </a:lnSpc>
            </a:pPr>
            <a:r>
              <a:rPr lang="en-US" sz="236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and social engineering threats in text and voice messages with high accuracy.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2723483"/>
            <a:ext cx="1701680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AIM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34535" y="4602874"/>
            <a:ext cx="4656098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Objectives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0091" y="4564774"/>
            <a:ext cx="6951363" cy="425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Provide real-time spam detection with 95%+ accuracy</a:t>
            </a:r>
          </a:p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Detect phishing attempts including URL analysis and brand impersonation</a:t>
            </a:r>
          </a:p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Support both text and voice message scanning</a:t>
            </a:r>
          </a:p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Offer user-friendly mobile interface for easy threat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Limitations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291307" y="4398309"/>
            <a:ext cx="10553844" cy="167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Platform: Mobile application (iOS and Android via Flutter)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Target: Individual users (not enterprise-level deployment)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Language: Primarily English text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731" y="3257785"/>
            <a:ext cx="5226879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Limitations: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Scope and Features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291307" y="4398309"/>
            <a:ext cx="7513951" cy="395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Text message spam detection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Voice message transcription and analysis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Phishing URL detection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Brand impersonation detection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Scan history management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User threat reporting system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Statistics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731" y="3257785"/>
            <a:ext cx="8242453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Scopes (Features):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73419" y="2341841"/>
          <a:ext cx="16995254" cy="6396187"/>
        </p:xfrm>
        <a:graphic>
          <a:graphicData uri="http://schemas.openxmlformats.org/drawingml/2006/table">
            <a:tbl>
              <a:tblPr/>
              <a:tblGrid>
                <a:gridCol w="3177819"/>
                <a:gridCol w="2488437"/>
                <a:gridCol w="7080184"/>
                <a:gridCol w="4248813"/>
              </a:tblGrid>
              <a:tr h="838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Author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Almeida et al. (2011) SMS Spam Collection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Bayes,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Created UCI SMS Spam dataset with 5,574 messages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97.5% accuracy with SVM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Sahami et al. (1998) - Bayesian Spam 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Probabilistic approach to email spam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Foundation for modern spam filters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4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Mohammad et al. (2014) -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Machine Learning + URL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Feature extraction from URLs for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92% detection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Gupta et al. (2021) - Deep Learning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LSTM, 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Transformer-based text classification for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98.2% accuracy on benchmark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Vaswani et al. (2017) - Transformers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Attention Mechanism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Self-attention for NLP tasks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State-of-the-art in text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LITERATURE REVIEW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2533276" y="3154483"/>
          <a:ext cx="5657850" cy="3771900"/>
        </p:xfrm>
        <a:graphic>
          <a:graphicData uri="http://schemas.openxmlformats.org/presentationml/2006/ole">
            <p:oleObj imgW="6781800" imgH="4902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2138378"/>
            <a:ext cx="6215597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Research Design &amp; Timeline</a:t>
            </a:r>
          </a:p>
          <a:p>
            <a:pPr algn="l">
              <a:lnSpc>
                <a:spcPts val="277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2638514" y="3204290"/>
          <a:ext cx="3771900" cy="4400550"/>
        </p:xfrm>
        <a:graphic>
          <a:graphicData uri="http://schemas.openxmlformats.org/presentationml/2006/ole">
            <p:oleObj imgW="46482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2138378"/>
            <a:ext cx="6253541" cy="69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Technology Stack</a:t>
            </a:r>
          </a:p>
          <a:p>
            <a:pPr algn="l">
              <a:lnSpc>
                <a:spcPts val="278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2138378"/>
            <a:ext cx="6253541" cy="103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System Architecture</a:t>
            </a:r>
          </a:p>
          <a:p>
            <a:pPr algn="l">
              <a:lnSpc>
                <a:spcPts val="2788"/>
              </a:lnSpc>
            </a:pPr>
          </a:p>
          <a:p>
            <a:pPr algn="l">
              <a:lnSpc>
                <a:spcPts val="278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3248890" y="3561200"/>
          <a:ext cx="11315700" cy="2514600"/>
        </p:xfrm>
        <a:graphic>
          <a:graphicData uri="http://schemas.openxmlformats.org/presentationml/2006/ole">
            <p:oleObj imgW="13576300" imgH="4775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91088" y="2610240"/>
            <a:ext cx="7655636" cy="76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Sources &amp; Statistics</a:t>
            </a:r>
          </a:p>
          <a:p>
            <a:pPr algn="l">
              <a:lnSpc>
                <a:spcPts val="2032"/>
              </a:lnSpc>
            </a:pP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91088" y="3022761"/>
            <a:ext cx="1001490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We utilized three specialized datasets from HuggingFace for training our models: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8890" y="7339393"/>
            <a:ext cx="437181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Total Training Data: 87,896 samples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3200400" y="3724098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Features</a:t>
            </a:r>
          </a:p>
          <a:p>
            <a:pPr algn="l">
              <a:lnSpc>
                <a:spcPts val="2032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3200400" y="3724098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Features</a:t>
            </a:r>
          </a:p>
          <a:p>
            <a:pPr algn="l">
              <a:lnSpc>
                <a:spcPts val="203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 Split Strategy</a:t>
            </a: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68386" y="3914462"/>
            <a:ext cx="10180421" cy="175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Train/Test Split Ratio: 80% / 20%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Stratification: Enabled to maintain class distribution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Random State: 42 (for reproducibility)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Validation: K-fold cross-validation during hyperparameter tuning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3274795" y="3662505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3141911" y="3886200"/>
          <a:ext cx="5657850" cy="2514600"/>
        </p:xfrm>
        <a:graphic>
          <a:graphicData uri="http://schemas.openxmlformats.org/presentationml/2006/ole">
            <p:oleObj imgW="6781800" imgH="3644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831677" y="4091130"/>
          <a:ext cx="11315700" cy="2514600"/>
        </p:xfrm>
        <a:graphic>
          <a:graphicData uri="http://schemas.openxmlformats.org/presentationml/2006/ole">
            <p:oleObj imgW="13576300" imgH="4775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6659314" y="4091130"/>
          <a:ext cx="11315700" cy="2514600"/>
        </p:xfrm>
        <a:graphic>
          <a:graphicData uri="http://schemas.openxmlformats.org/presentationml/2006/ole">
            <p:oleObj imgW="13576300" imgH="4775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2429230" y="4091130"/>
          <a:ext cx="11315700" cy="2514600"/>
        </p:xfrm>
        <a:graphic>
          <a:graphicData uri="http://schemas.openxmlformats.org/presentationml/2006/ole">
            <p:oleObj imgW="13576300" imgH="4775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Algorithm Comparison Results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50938" y="3501273"/>
            <a:ext cx="5561621" cy="1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0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SMS Spam Detection: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67609" y="3501273"/>
            <a:ext cx="5561621" cy="1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0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Scam Detection: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6379" y="3501273"/>
            <a:ext cx="5561621" cy="1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0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Phishing Detection: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765015" y="466929"/>
            <a:ext cx="4703456" cy="8591836"/>
          </a:xfrm>
          <a:custGeom>
            <a:avLst/>
            <a:gdLst/>
            <a:ahLst/>
            <a:cxnLst/>
            <a:rect r="r" b="b" t="t" l="l"/>
            <a:pathLst>
              <a:path h="8591836" w="4703456">
                <a:moveTo>
                  <a:pt x="0" y="0"/>
                </a:moveTo>
                <a:lnTo>
                  <a:pt x="4703456" y="0"/>
                </a:lnTo>
                <a:lnTo>
                  <a:pt x="4703456" y="8591835"/>
                </a:lnTo>
                <a:lnTo>
                  <a:pt x="0" y="8591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373" t="0" r="-18055" b="-11276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9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TEXT PREPROCESSING PIPELINE</a:t>
            </a:r>
          </a:p>
          <a:p>
            <a:pPr algn="l">
              <a:lnSpc>
                <a:spcPts val="2771"/>
              </a:lnSpc>
            </a:pP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4286696" y="3734223"/>
          <a:ext cx="7543800" cy="3143250"/>
        </p:xfrm>
        <a:graphic>
          <a:graphicData uri="http://schemas.openxmlformats.org/presentationml/2006/ole">
            <p:oleObj imgW="9042400" imgH="4648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4286696" y="3734223"/>
          <a:ext cx="7543800" cy="3143250"/>
        </p:xfrm>
        <a:graphic>
          <a:graphicData uri="http://schemas.openxmlformats.org/presentationml/2006/ole">
            <p:oleObj imgW="9042400" imgH="4648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72918" y="7151812"/>
            <a:ext cx="202755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 Formula: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0715" y="7151812"/>
            <a:ext cx="1018732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TF-IDF(t,d) = TF(t,d) × IDF(t)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Where: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TF(t,d) = (Number of times term t appears in document d) / (Total terms in d)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IDF(t) = log(Total documents / Documents containing term t)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286379" y="735763"/>
            <a:ext cx="6481867" cy="8125840"/>
          </a:xfrm>
          <a:custGeom>
            <a:avLst/>
            <a:gdLst/>
            <a:ahLst/>
            <a:cxnLst/>
            <a:rect r="r" b="b" t="t" l="l"/>
            <a:pathLst>
              <a:path h="8125840" w="6481867">
                <a:moveTo>
                  <a:pt x="0" y="0"/>
                </a:moveTo>
                <a:lnTo>
                  <a:pt x="6481866" y="0"/>
                </a:lnTo>
                <a:lnTo>
                  <a:pt x="6481866" y="8125840"/>
                </a:lnTo>
                <a:lnTo>
                  <a:pt x="0" y="812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53" r="0" b="-17274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22408" y="2535614"/>
            <a:ext cx="8081731" cy="3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21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TRAINING 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3048" y="3091533"/>
            <a:ext cx="2690892" cy="45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Pipeline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286379" y="592443"/>
            <a:ext cx="4527542" cy="8466321"/>
          </a:xfrm>
          <a:custGeom>
            <a:avLst/>
            <a:gdLst/>
            <a:ahLst/>
            <a:cxnLst/>
            <a:rect r="r" b="b" t="t" l="l"/>
            <a:pathLst>
              <a:path h="8466321" w="4527542">
                <a:moveTo>
                  <a:pt x="0" y="0"/>
                </a:moveTo>
                <a:lnTo>
                  <a:pt x="4527542" y="0"/>
                </a:lnTo>
                <a:lnTo>
                  <a:pt x="4527542" y="8466321"/>
                </a:lnTo>
                <a:lnTo>
                  <a:pt x="0" y="846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87" t="0" r="-17975" b="-6161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PROCESSING PIPELINE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Object 5" id="5"/>
          <p:cNvGraphicFramePr/>
          <p:nvPr/>
        </p:nvGraphicFramePr>
        <p:xfrm>
          <a:off x="1750938" y="3263435"/>
          <a:ext cx="9429750" cy="5029200"/>
        </p:xfrm>
        <a:graphic>
          <a:graphicData uri="http://schemas.openxmlformats.org/presentationml/2006/ole">
            <p:oleObj imgW="11315700" imgH="6908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API ENDPOINTS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FastAPI ML Service Endpoints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8538" y="3253751"/>
            <a:ext cx="4018597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{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"is_spam": true,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"confidence": 0.9234,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"threat_level": "high",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"threat_indicators": [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"urgency_language",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"suspicious_url",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"credential_request"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],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"model_used": "sms_classifier",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"processing_time_ms": 45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8538" y="2792448"/>
            <a:ext cx="32699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Response Format Example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73419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20" y="0"/>
                </a:lnTo>
                <a:lnTo>
                  <a:pt x="2200120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36" t="0" r="-836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295822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19" y="0"/>
                </a:lnTo>
                <a:lnTo>
                  <a:pt x="2200119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6" t="0" r="-836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6467904" y="2866541"/>
            <a:ext cx="2247660" cy="4849748"/>
          </a:xfrm>
          <a:custGeom>
            <a:avLst/>
            <a:gdLst/>
            <a:ahLst/>
            <a:cxnLst/>
            <a:rect r="r" b="b" t="t" l="l"/>
            <a:pathLst>
              <a:path h="4849748" w="2247660">
                <a:moveTo>
                  <a:pt x="0" y="0"/>
                </a:moveTo>
                <a:lnTo>
                  <a:pt x="2247660" y="0"/>
                </a:lnTo>
                <a:lnTo>
                  <a:pt x="2247660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36" t="0" r="-836" b="-216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2355975" y="2866541"/>
            <a:ext cx="2234860" cy="4849748"/>
          </a:xfrm>
          <a:custGeom>
            <a:avLst/>
            <a:gdLst/>
            <a:ahLst/>
            <a:cxnLst/>
            <a:rect r="r" b="b" t="t" l="l"/>
            <a:pathLst>
              <a:path h="4849748" w="2234860">
                <a:moveTo>
                  <a:pt x="0" y="0"/>
                </a:moveTo>
                <a:lnTo>
                  <a:pt x="2234860" y="0"/>
                </a:lnTo>
                <a:lnTo>
                  <a:pt x="2234860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36" t="0" r="-836" b="-1579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5064509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19" y="0"/>
                </a:lnTo>
                <a:lnTo>
                  <a:pt x="2200119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36" t="0" r="-836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9184306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19" y="0"/>
                </a:lnTo>
                <a:lnTo>
                  <a:pt x="2200119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36" t="0" r="-836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8217" y="1661030"/>
            <a:ext cx="7513024" cy="3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242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Mobile App Screenshots: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2780" y="2418968"/>
            <a:ext cx="11440893" cy="430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2"/>
              </a:lnSpc>
            </a:pPr>
            <a:r>
              <a:rPr lang="en-US" sz="3414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Key Features Implemented: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Real-time text spam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Voice message transcription and analysis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Phishing URL detection with threat level</a:t>
            </a: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/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Brand impersonation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User authentication and profile management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Scan history with statistics</a:t>
            </a:r>
          </a:p>
          <a:p>
            <a:pPr algn="l">
              <a:lnSpc>
                <a:spcPts val="4302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882780" y="2311478"/>
          <a:ext cx="11279907" cy="6010275"/>
        </p:xfrm>
        <a:graphic>
          <a:graphicData uri="http://schemas.openxmlformats.org/drawingml/2006/table">
            <a:tbl>
              <a:tblPr/>
              <a:tblGrid>
                <a:gridCol w="6874410"/>
                <a:gridCol w="2187943"/>
                <a:gridCol w="2217555"/>
              </a:tblGrid>
              <a:tr h="8818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Achieved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99.68%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Phishing Detection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API Response Time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&lt;100ms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45ms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Voice Processing Time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False Positive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3.8%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8217" y="1661030"/>
            <a:ext cx="7513024" cy="3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242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Evaluation Metrics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882780" y="2311478"/>
          <a:ext cx="11279907" cy="6010275"/>
        </p:xfrm>
        <a:graphic>
          <a:graphicData uri="http://schemas.openxmlformats.org/drawingml/2006/table">
            <a:tbl>
              <a:tblPr/>
              <a:tblGrid>
                <a:gridCol w="6874410"/>
                <a:gridCol w="2187943"/>
                <a:gridCol w="2217555"/>
              </a:tblGrid>
              <a:tr h="8818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Achieved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99.68%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Phishing Detection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API Response Time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&lt;100ms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45ms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Voice Processing Time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False Positive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3.8%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Evaluation Metrics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139503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35" y="3140581"/>
            <a:ext cx="4427932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Logistic Regression + TF-IDF outperforms heavier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135" y="3677790"/>
            <a:ext cx="4312063" cy="1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6"/>
              </a:lnSpc>
            </a:pPr>
            <a:r>
              <a:rPr lang="en-US" sz="1800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Logistic Regression with TF-IDF achieves 99.68% accuracy on SMS,</a:t>
            </a:r>
          </a:p>
          <a:p>
            <a:pPr algn="just">
              <a:lnSpc>
                <a:spcPts val="2826"/>
              </a:lnSpc>
            </a:pPr>
            <a:r>
              <a:rPr lang="en-US" sz="1800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     matching findings by Almeida et al. (2011) that classical ML is strong on short text.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303788"/>
            <a:ext cx="703443" cy="769258"/>
            <a:chOff x="0" y="0"/>
            <a:chExt cx="812800" cy="8888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2734" y="48494"/>
              <a:ext cx="727332" cy="791859"/>
            </a:xfrm>
            <a:custGeom>
              <a:avLst/>
              <a:gdLst/>
              <a:ahLst/>
              <a:cxnLst/>
              <a:rect r="r" b="b" t="t" l="l"/>
              <a:pathLst>
                <a:path h="791859" w="727332">
                  <a:moveTo>
                    <a:pt x="437936" y="32725"/>
                  </a:moveTo>
                  <a:lnTo>
                    <a:pt x="695796" y="314710"/>
                  </a:lnTo>
                  <a:cubicBezTo>
                    <a:pt x="737844" y="360693"/>
                    <a:pt x="737844" y="431166"/>
                    <a:pt x="695796" y="477148"/>
                  </a:cubicBezTo>
                  <a:lnTo>
                    <a:pt x="437936" y="759133"/>
                  </a:lnTo>
                  <a:cubicBezTo>
                    <a:pt x="418871" y="779983"/>
                    <a:pt x="391919" y="791858"/>
                    <a:pt x="363666" y="791858"/>
                  </a:cubicBezTo>
                  <a:cubicBezTo>
                    <a:pt x="335413" y="791858"/>
                    <a:pt x="308461" y="779983"/>
                    <a:pt x="289396" y="759133"/>
                  </a:cubicBezTo>
                  <a:lnTo>
                    <a:pt x="31536" y="477148"/>
                  </a:lnTo>
                  <a:cubicBezTo>
                    <a:pt x="-10512" y="431166"/>
                    <a:pt x="-10512" y="360693"/>
                    <a:pt x="31536" y="314710"/>
                  </a:cubicBezTo>
                  <a:lnTo>
                    <a:pt x="289396" y="32725"/>
                  </a:lnTo>
                  <a:cubicBezTo>
                    <a:pt x="308461" y="11876"/>
                    <a:pt x="335413" y="0"/>
                    <a:pt x="363666" y="0"/>
                  </a:cubicBezTo>
                  <a:cubicBezTo>
                    <a:pt x="391919" y="0"/>
                    <a:pt x="418871" y="11876"/>
                    <a:pt x="437936" y="3272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139700" y="114670"/>
              <a:ext cx="533400" cy="621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26400" y="2377705"/>
            <a:ext cx="4472367" cy="3118220"/>
            <a:chOff x="0" y="0"/>
            <a:chExt cx="5963156" cy="415762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TF-IDF remains effective for SMS spam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9246" y="1854228"/>
              <a:ext cx="5749417" cy="230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Despite advances in deep learning, TF-IDF with traditional ML achieves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comparable results to transformer models for short text classification,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similar to Almeida et al. (2011).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1645846" y="2377705"/>
            <a:ext cx="4472367" cy="2765795"/>
            <a:chOff x="0" y="0"/>
            <a:chExt cx="5963156" cy="368772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URL feature extraction is critical for phishing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Our 30+ feature extraction approach aligns with Mohammad et al. (2014),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achieving 92.5% phishing detection rate.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5" id="25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3480216" y="5865742"/>
            <a:ext cx="4472367" cy="2765795"/>
            <a:chOff x="0" y="0"/>
            <a:chExt cx="5963156" cy="368772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 Hybrid rule-based + ML improves explainability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Unlike pure deep learning approaches, our hybrid method provides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interpretable threat indicators to users.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31" id="31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9184207" y="5865742"/>
            <a:ext cx="4472367" cy="2765795"/>
            <a:chOff x="0" y="0"/>
            <a:chExt cx="5963156" cy="3687726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Voice transcription adds value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Extending spam detection to voice messages addresses a gap in existing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research, as most studies focus only on text.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37" id="37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651042" y="2311478"/>
          <a:ext cx="13616600" cy="6153150"/>
        </p:xfrm>
        <a:graphic>
          <a:graphicData uri="http://schemas.openxmlformats.org/drawingml/2006/table">
            <a:tbl>
              <a:tblPr/>
              <a:tblGrid>
                <a:gridCol w="4760278"/>
                <a:gridCol w="4296807"/>
                <a:gridCol w="4559515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Previous Work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Our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Modality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Text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Text + Voice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Desktop/Server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Mobile-first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+ Phishing + Voice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Explainability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Black box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Interpretable indicators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Real-time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Batch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Real-time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30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51042" y="1819175"/>
            <a:ext cx="542242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COMPARISON WITH PREVIOUS RESEARCH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181100" y="93826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31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1181100" y="93826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212179" y="2607073"/>
            <a:ext cx="7616335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STRENGTHS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Achieved 99.68% spam detection accuracy exceeding target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Multi-modal support (text + voice) addresses market gap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Mobile-first design provides accessible user experience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Hybrid ML approach balances accuracy and explainability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Comprehensive phishing detection with brand impersonation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LIMITATIONS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Currently optimized for English language only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transcription accuracy depends on audio quality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Requires internet connection for ML inference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Limited training data for Khmer language spam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1181100" y="93826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71681" y="1819175"/>
            <a:ext cx="8099123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SIGNIFICANCE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Provides accessible cybersecurity tool for general users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Demonstrates practical application of ML in mobile security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Contributes to spam/phishing detection research with multi-modal approach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Offers framework for future development and research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FUTURE RESEARCH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Extend support for Khmer language detection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Implement on-device ML for offline functionality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Add real-time SMS/call screening integration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Develop browser extension for web-based phishing protection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Explore federated learning for privacy-preserving model updates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712555" y="656100"/>
            <a:ext cx="9272840" cy="9272840"/>
          </a:xfrm>
          <a:custGeom>
            <a:avLst/>
            <a:gdLst/>
            <a:ahLst/>
            <a:cxnLst/>
            <a:rect r="r" b="b" t="t" l="l"/>
            <a:pathLst>
              <a:path h="9272840" w="9272840">
                <a:moveTo>
                  <a:pt x="0" y="0"/>
                </a:moveTo>
                <a:lnTo>
                  <a:pt x="9272840" y="0"/>
                </a:lnTo>
                <a:lnTo>
                  <a:pt x="9272840" y="9272840"/>
                </a:lnTo>
                <a:lnTo>
                  <a:pt x="0" y="927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0173356" y="1988112"/>
            <a:ext cx="6608816" cy="66088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44322" y="2159078"/>
            <a:ext cx="6266885" cy="62668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46139" y="2360895"/>
            <a:ext cx="5863250" cy="5863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33333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46139" y="7164978"/>
            <a:ext cx="1431950" cy="14319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90440" y="7409278"/>
            <a:ext cx="943350" cy="943350"/>
          </a:xfrm>
          <a:custGeom>
            <a:avLst/>
            <a:gdLst/>
            <a:ahLst/>
            <a:cxnLst/>
            <a:rect r="r" b="b" t="t" l="l"/>
            <a:pathLst>
              <a:path h="943350" w="943350">
                <a:moveTo>
                  <a:pt x="0" y="0"/>
                </a:moveTo>
                <a:lnTo>
                  <a:pt x="943350" y="0"/>
                </a:lnTo>
                <a:lnTo>
                  <a:pt x="943350" y="943350"/>
                </a:lnTo>
                <a:lnTo>
                  <a:pt x="0" y="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6" id="16"/>
          <p:cNvGrpSpPr/>
          <p:nvPr/>
        </p:nvGrpSpPr>
        <p:grpSpPr>
          <a:xfrm rot="0">
            <a:off x="1028700" y="6327484"/>
            <a:ext cx="4735081" cy="732550"/>
            <a:chOff x="0" y="0"/>
            <a:chExt cx="1247100" cy="1929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7100" cy="192935"/>
            </a:xfrm>
            <a:custGeom>
              <a:avLst/>
              <a:gdLst/>
              <a:ahLst/>
              <a:cxnLst/>
              <a:rect r="r" b="b" t="t" l="l"/>
              <a:pathLst>
                <a:path h="192935" w="1247100">
                  <a:moveTo>
                    <a:pt x="29430" y="0"/>
                  </a:moveTo>
                  <a:lnTo>
                    <a:pt x="1217669" y="0"/>
                  </a:lnTo>
                  <a:cubicBezTo>
                    <a:pt x="1225475" y="0"/>
                    <a:pt x="1232960" y="3101"/>
                    <a:pt x="1238480" y="8620"/>
                  </a:cubicBezTo>
                  <a:cubicBezTo>
                    <a:pt x="1243999" y="14139"/>
                    <a:pt x="1247100" y="21625"/>
                    <a:pt x="1247100" y="29430"/>
                  </a:cubicBezTo>
                  <a:lnTo>
                    <a:pt x="1247100" y="163505"/>
                  </a:lnTo>
                  <a:cubicBezTo>
                    <a:pt x="1247100" y="171310"/>
                    <a:pt x="1243999" y="178796"/>
                    <a:pt x="1238480" y="184315"/>
                  </a:cubicBezTo>
                  <a:cubicBezTo>
                    <a:pt x="1232960" y="189834"/>
                    <a:pt x="1225475" y="192935"/>
                    <a:pt x="1217669" y="192935"/>
                  </a:cubicBezTo>
                  <a:lnTo>
                    <a:pt x="29430" y="192935"/>
                  </a:lnTo>
                  <a:cubicBezTo>
                    <a:pt x="13176" y="192935"/>
                    <a:pt x="0" y="179759"/>
                    <a:pt x="0" y="163505"/>
                  </a:cubicBezTo>
                  <a:lnTo>
                    <a:pt x="0" y="29430"/>
                  </a:lnTo>
                  <a:cubicBezTo>
                    <a:pt x="0" y="21625"/>
                    <a:pt x="3101" y="14139"/>
                    <a:pt x="8620" y="8620"/>
                  </a:cubicBezTo>
                  <a:cubicBezTo>
                    <a:pt x="14139" y="3101"/>
                    <a:pt x="21625" y="0"/>
                    <a:pt x="294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47100" cy="231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1" id="21"/>
          <p:cNvSpPr txBox="true"/>
          <p:nvPr/>
        </p:nvSpPr>
        <p:spPr>
          <a:xfrm rot="0">
            <a:off x="1028700" y="3190334"/>
            <a:ext cx="6728482" cy="283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3"/>
              </a:lnSpc>
            </a:pPr>
            <a:r>
              <a:rPr lang="en-US" sz="88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035" y="6353717"/>
            <a:ext cx="4108771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 the attention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Thank you!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603370" y="21590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DAHHXg2hQoE</dc:identifier>
  <dcterms:modified xsi:type="dcterms:W3CDTF">2011-08-01T06:04:30Z</dcterms:modified>
  <cp:revision>1</cp:revision>
  <dc:title>ai-scam-shield</dc:title>
</cp:coreProperties>
</file>