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Mokoto" charset="1" panose="00000000000000000000"/>
      <p:regular r:id="rId39"/>
    </p:embeddedFont>
    <p:embeddedFont>
      <p:font typeface="Lora Bold" charset="1" panose="00000800000000000000"/>
      <p:regular r:id="rId40"/>
    </p:embeddedFont>
    <p:embeddedFont>
      <p:font typeface="Lora" charset="1" panose="00000500000000000000"/>
      <p:regular r:id="rId41"/>
    </p:embeddedFont>
    <p:embeddedFont>
      <p:font typeface="Canva Sans Bold" charset="1" panose="020B0803030501040103"/>
      <p:regular r:id="rId42"/>
    </p:embeddedFont>
    <p:embeddedFont>
      <p:font typeface="Agrandir" charset="1" panose="00000500000000000000"/>
      <p:regular r:id="rId43"/>
    </p:embeddedFont>
    <p:embeddedFont>
      <p:font typeface="Arimo Bold" charset="1" panose="020B07040202020202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1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3.png" Type="http://schemas.openxmlformats.org/officeDocument/2006/relationships/image"/><Relationship Id="rId7" Target="../embeddings/oleObject3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4.png" Type="http://schemas.openxmlformats.org/officeDocument/2006/relationships/image"/><Relationship Id="rId7" Target="../embeddings/oleObject4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5.png" Type="http://schemas.openxmlformats.org/officeDocument/2006/relationships/image"/><Relationship Id="rId7" Target="../embeddings/oleObject5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6.png" Type="http://schemas.openxmlformats.org/officeDocument/2006/relationships/image"/><Relationship Id="rId7" Target="../embeddings/oleObject6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7.png" Type="http://schemas.openxmlformats.org/officeDocument/2006/relationships/image"/><Relationship Id="rId7" Target="../embeddings/oleObject7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embeddings/oleObject10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8.png" Type="http://schemas.openxmlformats.org/officeDocument/2006/relationships/image"/><Relationship Id="rId7" Target="../embeddings/oleObject8.bin" Type="http://schemas.openxmlformats.org/officeDocument/2006/relationships/oleObject"/><Relationship Id="rId8" Target="../media/image19.png" Type="http://schemas.openxmlformats.org/officeDocument/2006/relationships/image"/><Relationship Id="rId9" Target="../embeddings/oleObject9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2.png" Type="http://schemas.openxmlformats.org/officeDocument/2006/relationships/image"/><Relationship Id="rId7" Target="../embeddings/oleObject11.bin" Type="http://schemas.openxmlformats.org/officeDocument/2006/relationships/oleObjec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3.png" Type="http://schemas.openxmlformats.org/officeDocument/2006/relationships/image"/><Relationship Id="rId7" Target="../embeddings/oleObject12.bin" Type="http://schemas.openxmlformats.org/officeDocument/2006/relationships/oleObjec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6.png" Type="http://schemas.openxmlformats.org/officeDocument/2006/relationships/image"/><Relationship Id="rId7" Target="../embeddings/oleObject13.bin" Type="http://schemas.openxmlformats.org/officeDocument/2006/relationships/oleObjec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jpeg" Type="http://schemas.openxmlformats.org/officeDocument/2006/relationships/image"/><Relationship Id="rId11" Target="../media/image32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7.jpeg" Type="http://schemas.openxmlformats.org/officeDocument/2006/relationships/image"/><Relationship Id="rId7" Target="../media/image28.jpeg" Type="http://schemas.openxmlformats.org/officeDocument/2006/relationships/image"/><Relationship Id="rId8" Target="../media/image29.jpeg" Type="http://schemas.openxmlformats.org/officeDocument/2006/relationships/image"/><Relationship Id="rId9" Target="../media/image30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33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12555" y="656100"/>
            <a:ext cx="9272840" cy="9272840"/>
          </a:xfrm>
          <a:custGeom>
            <a:avLst/>
            <a:gdLst/>
            <a:ahLst/>
            <a:cxnLst/>
            <a:rect r="r" b="b" t="t" l="l"/>
            <a:pathLst>
              <a:path h="9272840" w="9272840">
                <a:moveTo>
                  <a:pt x="0" y="0"/>
                </a:moveTo>
                <a:lnTo>
                  <a:pt x="9272840" y="0"/>
                </a:lnTo>
                <a:lnTo>
                  <a:pt x="9272840" y="9272840"/>
                </a:lnTo>
                <a:lnTo>
                  <a:pt x="0" y="9272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532243" y="6693303"/>
            <a:ext cx="1431950" cy="143195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796843" y="6937603"/>
            <a:ext cx="943350" cy="943350"/>
          </a:xfrm>
          <a:custGeom>
            <a:avLst/>
            <a:gdLst/>
            <a:ahLst/>
            <a:cxnLst/>
            <a:rect r="r" b="b" t="t" l="l"/>
            <a:pathLst>
              <a:path h="943350" w="943350">
                <a:moveTo>
                  <a:pt x="0" y="0"/>
                </a:moveTo>
                <a:lnTo>
                  <a:pt x="943350" y="0"/>
                </a:lnTo>
                <a:lnTo>
                  <a:pt x="943350" y="943350"/>
                </a:lnTo>
                <a:lnTo>
                  <a:pt x="0" y="9433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31677" y="7966332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2"/>
                </a:lnTo>
                <a:lnTo>
                  <a:pt x="0" y="9192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03370" y="21590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459631" y="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440446"/>
            <a:ext cx="1680776" cy="1718631"/>
          </a:xfrm>
          <a:custGeom>
            <a:avLst/>
            <a:gdLst/>
            <a:ahLst/>
            <a:cxnLst/>
            <a:rect r="r" b="b" t="t" l="l"/>
            <a:pathLst>
              <a:path h="1718631" w="1680776">
                <a:moveTo>
                  <a:pt x="0" y="0"/>
                </a:moveTo>
                <a:lnTo>
                  <a:pt x="1680776" y="0"/>
                </a:lnTo>
                <a:lnTo>
                  <a:pt x="1680776" y="1718632"/>
                </a:lnTo>
                <a:lnTo>
                  <a:pt x="0" y="17186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82428" y="926650"/>
            <a:ext cx="4296724" cy="7958944"/>
          </a:xfrm>
          <a:custGeom>
            <a:avLst/>
            <a:gdLst/>
            <a:ahLst/>
            <a:cxnLst/>
            <a:rect r="r" b="b" t="t" l="l"/>
            <a:pathLst>
              <a:path h="7958944" w="4296724">
                <a:moveTo>
                  <a:pt x="0" y="0"/>
                </a:moveTo>
                <a:lnTo>
                  <a:pt x="4296724" y="0"/>
                </a:lnTo>
                <a:lnTo>
                  <a:pt x="4296724" y="7958944"/>
                </a:lnTo>
                <a:lnTo>
                  <a:pt x="0" y="79589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48429" t="-3565" r="-49530" b="-330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745601"/>
            <a:ext cx="8777378" cy="2130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1"/>
              </a:lnSpc>
            </a:pPr>
            <a:r>
              <a:rPr lang="en-US" sz="66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AI ScAM SHIELD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1307" y="6073750"/>
            <a:ext cx="3445553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For Business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3578" y="6055323"/>
            <a:ext cx="6063001" cy="80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4"/>
              </a:lnSpc>
            </a:pPr>
            <a:r>
              <a:rPr lang="en-US" sz="233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</a:t>
            </a:r>
            <a:r>
              <a:rPr lang="en-US" b="true" sz="233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Practicum Presentation</a:t>
            </a:r>
          </a:p>
          <a:p>
            <a:pPr algn="just">
              <a:lnSpc>
                <a:spcPts val="3274"/>
              </a:lnSpc>
            </a:pPr>
            <a:r>
              <a:rPr lang="en-US" b="true" sz="233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Lecturer: Mr. Chhim Bunchhun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53513" y="987730"/>
            <a:ext cx="5115005" cy="45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2"/>
              </a:lnSpc>
              <a:spcBef>
                <a:spcPct val="0"/>
              </a:spcBef>
            </a:pPr>
            <a:r>
              <a:rPr lang="en-US" sz="2702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Royal University of Phnom Penh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1677" y="7966332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2"/>
                </a:lnTo>
                <a:lnTo>
                  <a:pt x="0" y="91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9432" y="216175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59631" y="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9069" y="216175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15940" y="8139503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67609" y="9294847"/>
            <a:ext cx="4552782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94847"/>
            <a:ext cx="370816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AI Shield 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294847"/>
            <a:ext cx="370816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Page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11665" y="1828665"/>
            <a:ext cx="7106229" cy="185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07"/>
              </a:lnSpc>
            </a:pPr>
            <a:r>
              <a:rPr lang="en-US" sz="5799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Table of Contents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98311" y="4260969"/>
            <a:ext cx="6402059" cy="174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Introduction</a:t>
            </a:r>
          </a:p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Literature Rev</a:t>
            </a: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iew</a:t>
            </a:r>
          </a:p>
          <a:p>
            <a:pPr algn="l" marL="647700" indent="-323850" lvl="1">
              <a:lnSpc>
                <a:spcPts val="471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00370" y="4318119"/>
            <a:ext cx="5315570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  <a:p>
            <a:pPr algn="l" marL="647700" indent="-323850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Discussion</a:t>
            </a:r>
          </a:p>
          <a:p>
            <a:pPr algn="l" marL="647700" indent="-323850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04013" y="2236470"/>
            <a:ext cx="9073401" cy="572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 the digital age, spam and phishing attacks have become increasingly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sophisticated, posing significant threats to individuals and organizations.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Cambodia has seen a rise in SMS scams, fraudulent messages, and phishing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attempts targeting mobile users. Traditional rule-based spam filters are no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longer sufficient to combat these evolving threats, creating a need for</a:t>
            </a:r>
          </a:p>
          <a:p>
            <a:pPr algn="l">
              <a:lnSpc>
                <a:spcPts val="4184"/>
              </a:lnSpc>
            </a:pPr>
            <a:r>
              <a:rPr lang="en-US" sz="26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intelligent, AI-powered detection systems.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20391" y="2879464"/>
            <a:ext cx="4953540" cy="4953540"/>
          </a:xfrm>
          <a:custGeom>
            <a:avLst/>
            <a:gdLst/>
            <a:ahLst/>
            <a:cxnLst/>
            <a:rect r="r" b="b" t="t" l="l"/>
            <a:pathLst>
              <a:path h="4953540" w="4953540">
                <a:moveTo>
                  <a:pt x="0" y="0"/>
                </a:moveTo>
                <a:lnTo>
                  <a:pt x="4953540" y="0"/>
                </a:lnTo>
                <a:lnTo>
                  <a:pt x="4953540" y="4953541"/>
                </a:lnTo>
                <a:lnTo>
                  <a:pt x="0" y="49535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7333884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PROBLEM STATEMENTS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68217" y="2336077"/>
            <a:ext cx="12434839" cy="582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3879" indent="-356939" lvl="1">
              <a:lnSpc>
                <a:spcPts val="4629"/>
              </a:lnSpc>
              <a:buFont typeface="Arial"/>
              <a:buChar char="•"/>
            </a:pP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ncreasing volume of spam messages and phishing attacks targeting mobile users</a:t>
            </a:r>
          </a:p>
          <a:p>
            <a:pPr algn="l" marL="713879" indent="-356939" lvl="1">
              <a:lnSpc>
                <a:spcPts val="4629"/>
              </a:lnSpc>
              <a:buFont typeface="Arial"/>
              <a:buChar char="•"/>
            </a:pP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Traditional spam filters fail to detect sophisticated social engineering attacks</a:t>
            </a:r>
          </a:p>
          <a:p>
            <a:pPr algn="l" marL="713879" indent="-356939" lvl="1">
              <a:lnSpc>
                <a:spcPts val="4629"/>
              </a:lnSpc>
              <a:buFont typeface="Arial"/>
              <a:buChar char="•"/>
            </a:pP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Lack of accessible, user-friendly tools for Cambodian users to verify suspicious messages</a:t>
            </a:r>
          </a:p>
          <a:p>
            <a:pPr algn="l" marL="713879" indent="-356939" lvl="1">
              <a:lnSpc>
                <a:spcPts val="4629"/>
              </a:lnSpc>
              <a:buFont typeface="Arial"/>
              <a:buChar char="•"/>
            </a:pP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Voice-based scams are emerging but few solutions address voice message analysis</a:t>
            </a:r>
          </a:p>
          <a:p>
            <a:pPr algn="l" marL="713879" indent="-356939" lvl="1">
              <a:lnSpc>
                <a:spcPts val="4629"/>
              </a:lnSpc>
              <a:buFont typeface="Arial"/>
              <a:buChar char="•"/>
            </a:pPr>
            <a:r>
              <a:rPr lang="en-US" sz="3306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Users often fall victim to brand impersonation and URL-based phishing attacks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AIm and Objective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04651" y="2264347"/>
            <a:ext cx="6738729" cy="182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7"/>
              </a:lnSpc>
            </a:pPr>
            <a:r>
              <a:rPr lang="en-US" sz="236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To develop an AI-powered mobile application that detects spam, phishing,</a:t>
            </a:r>
          </a:p>
          <a:p>
            <a:pPr algn="just">
              <a:lnSpc>
                <a:spcPts val="3707"/>
              </a:lnSpc>
            </a:pPr>
            <a:r>
              <a:rPr lang="en-US" sz="236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and social engineering threats in text and voice messages with high accuracy.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100" y="2723483"/>
            <a:ext cx="1701680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4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AIM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34535" y="4602874"/>
            <a:ext cx="4656098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4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ObJective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0091" y="4564774"/>
            <a:ext cx="6951363" cy="425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5968" indent="-262984" lvl="1">
              <a:lnSpc>
                <a:spcPts val="3824"/>
              </a:lnSpc>
              <a:buFont typeface="Arial"/>
              <a:buChar char="•"/>
            </a:pPr>
            <a:r>
              <a:rPr lang="en-US" sz="2436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Provide real-time spam detection with 95%+ accuracy</a:t>
            </a:r>
          </a:p>
          <a:p>
            <a:pPr algn="just" marL="525968" indent="-262984" lvl="1">
              <a:lnSpc>
                <a:spcPts val="3824"/>
              </a:lnSpc>
              <a:buFont typeface="Arial"/>
              <a:buChar char="•"/>
            </a:pPr>
            <a:r>
              <a:rPr lang="en-US" sz="2436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Detect phishing attempts including URL analysis and brand impersonation</a:t>
            </a:r>
          </a:p>
          <a:p>
            <a:pPr algn="just" marL="525968" indent="-262984" lvl="1">
              <a:lnSpc>
                <a:spcPts val="3824"/>
              </a:lnSpc>
              <a:buFont typeface="Arial"/>
              <a:buChar char="•"/>
            </a:pPr>
            <a:r>
              <a:rPr lang="en-US" sz="2436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Support both text and voice message scanning</a:t>
            </a:r>
          </a:p>
          <a:p>
            <a:pPr algn="just" marL="525968" indent="-262984" lvl="1">
              <a:lnSpc>
                <a:spcPts val="3824"/>
              </a:lnSpc>
              <a:buFont typeface="Arial"/>
              <a:buChar char="•"/>
            </a:pPr>
            <a:r>
              <a:rPr lang="en-US" sz="2436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Offer user-friendly mobile interface for easy threat verification Maintain scan history for user awareness and learning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LIMITation And Scope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91307" y="4398309"/>
            <a:ext cx="10553844" cy="167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Platform: Mobile application (iOS and Android via Flutter)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Target: Individual users (not enterprise-level deployment)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Language: Primarily English text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0731" y="3257785"/>
            <a:ext cx="5226879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4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Limitations: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LIMITation And Scope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91307" y="4398309"/>
            <a:ext cx="7513951" cy="395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Text message spam detection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Voice message transcription and analysis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Phishing URL detection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Brand impersonation detection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Scan history management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User threat reporting system</a:t>
            </a:r>
          </a:p>
          <a:p>
            <a:pPr algn="just">
              <a:lnSpc>
                <a:spcPts val="4586"/>
              </a:lnSpc>
            </a:pPr>
            <a:r>
              <a:rPr lang="en-US" sz="2921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- Statistics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0731" y="3257785"/>
            <a:ext cx="8242453" cy="70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44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Scopes (Features):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73419" y="2341841"/>
          <a:ext cx="16995254" cy="6396187"/>
        </p:xfrm>
        <a:graphic>
          <a:graphicData uri="http://schemas.openxmlformats.org/drawingml/2006/table">
            <a:tbl>
              <a:tblPr/>
              <a:tblGrid>
                <a:gridCol w="3177819"/>
                <a:gridCol w="2488437"/>
                <a:gridCol w="7080184"/>
                <a:gridCol w="4248813"/>
              </a:tblGrid>
              <a:tr h="8383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Author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Almeida et al. (2011) SMS Spam Collection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Naive Bayes,SVM,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Created UCI SMS Spam dataset  with 5,574 messages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97.5% accuracy with SVM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9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Sahami et al. (1998) - Bayesian Spam Filtering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Probabilistic approach to email spam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Foundation for modern spam filters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44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Mohammad et al. (2014) - Phishing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Machine Learning + URL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Feature extraction from URLs for phishing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92% detection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Gupta et al. (2021) - Deep Learning Spam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LSTM, BERT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Transformer-based text classification for spam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98.2% accuracy on benchmark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39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Vaswani et al. (2017) - Transformers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Attention Mechanism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Self-attention for NLP tasks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State-of-the-art in text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LITERATURE REVIEW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2533276" y="3154483"/>
          <a:ext cx="5657850" cy="3771900"/>
        </p:xfrm>
        <a:graphic>
          <a:graphicData uri="http://schemas.openxmlformats.org/presentationml/2006/ole">
            <p:oleObj imgW="6781800" imgH="4902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2138378"/>
            <a:ext cx="6215597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Research Design &amp; Timeline</a:t>
            </a:r>
          </a:p>
          <a:p>
            <a:pPr algn="l">
              <a:lnSpc>
                <a:spcPts val="277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2638514" y="3204290"/>
          <a:ext cx="3771900" cy="4400550"/>
        </p:xfrm>
        <a:graphic>
          <a:graphicData uri="http://schemas.openxmlformats.org/presentationml/2006/ole">
            <p:oleObj imgW="4648200" imgH="5270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2138378"/>
            <a:ext cx="6253541" cy="69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Technology Stack</a:t>
            </a:r>
          </a:p>
          <a:p>
            <a:pPr algn="l">
              <a:lnSpc>
                <a:spcPts val="278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6047" y="2138378"/>
            <a:ext cx="6253541" cy="1037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2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System Architecture</a:t>
            </a:r>
          </a:p>
          <a:p>
            <a:pPr algn="l">
              <a:lnSpc>
                <a:spcPts val="2788"/>
              </a:lnSpc>
            </a:pPr>
          </a:p>
          <a:p>
            <a:pPr algn="l">
              <a:lnSpc>
                <a:spcPts val="2788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3248890" y="3561200"/>
          <a:ext cx="11315700" cy="2514600"/>
        </p:xfrm>
        <a:graphic>
          <a:graphicData uri="http://schemas.openxmlformats.org/presentationml/2006/ole">
            <p:oleObj imgW="13576300" imgH="4775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91088" y="2610240"/>
            <a:ext cx="7655636" cy="76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 Sources &amp; Statistics</a:t>
            </a:r>
          </a:p>
          <a:p>
            <a:pPr algn="l">
              <a:lnSpc>
                <a:spcPts val="2032"/>
              </a:lnSpc>
            </a:pPr>
          </a:p>
          <a:p>
            <a:pPr algn="l">
              <a:lnSpc>
                <a:spcPts val="203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91088" y="3022761"/>
            <a:ext cx="1001490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We utilized three specialized datasets from HuggingFace for training our models: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48890" y="7339393"/>
            <a:ext cx="437181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Total Training Data: 87,896 samples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3200400" y="3724098"/>
          <a:ext cx="7543800" cy="2514600"/>
        </p:xfrm>
        <a:graphic>
          <a:graphicData uri="http://schemas.openxmlformats.org/presentationml/2006/ole">
            <p:oleObj imgW="9042400" imgH="4013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00400" y="2821023"/>
            <a:ext cx="7655636" cy="51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 Features</a:t>
            </a:r>
          </a:p>
          <a:p>
            <a:pPr algn="l">
              <a:lnSpc>
                <a:spcPts val="2032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3200400" y="3724098"/>
          <a:ext cx="7543800" cy="2514600"/>
        </p:xfrm>
        <a:graphic>
          <a:graphicData uri="http://schemas.openxmlformats.org/presentationml/2006/ole">
            <p:oleObj imgW="9042400" imgH="4013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00400" y="2821023"/>
            <a:ext cx="7655636" cy="51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 Features</a:t>
            </a:r>
          </a:p>
          <a:p>
            <a:pPr algn="l">
              <a:lnSpc>
                <a:spcPts val="203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DATASETS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200400" y="2821023"/>
            <a:ext cx="7655636" cy="51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613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Data Split Strategy</a:t>
            </a:r>
          </a:p>
          <a:p>
            <a:pPr algn="l">
              <a:lnSpc>
                <a:spcPts val="203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968386" y="3914462"/>
            <a:ext cx="10180421" cy="175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rain/Test Split Ratio: 80% / 20%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Stratification: Enabled to maintain class distribution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Random State: 42 (for reproducibility)</a:t>
            </a:r>
          </a:p>
          <a:p>
            <a:pPr algn="l" marL="540937" indent="-270469" lvl="1">
              <a:lnSpc>
                <a:spcPts val="3507"/>
              </a:lnSpc>
              <a:buFont typeface="Arial"/>
              <a:buChar char="•"/>
            </a:pPr>
            <a:r>
              <a:rPr lang="en-US" sz="2505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Validation: K-fold cross-validation during hyperparameter tuning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3274795" y="3662505"/>
          <a:ext cx="7543800" cy="2514600"/>
        </p:xfrm>
        <a:graphic>
          <a:graphicData uri="http://schemas.openxmlformats.org/presentationml/2006/ole">
            <p:oleObj imgW="9042400" imgH="4013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58258" y="2640074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Three Specialized Detection Models</a:t>
            </a:r>
          </a:p>
          <a:p>
            <a:pPr algn="l">
              <a:lnSpc>
                <a:spcPts val="245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3141911" y="3886200"/>
          <a:ext cx="5657850" cy="2514600"/>
        </p:xfrm>
        <a:graphic>
          <a:graphicData uri="http://schemas.openxmlformats.org/presentationml/2006/ole">
            <p:oleObj imgW="6781800" imgH="36449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58258" y="2640074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Three Specialized Detection Models</a:t>
            </a:r>
          </a:p>
          <a:p>
            <a:pPr algn="l">
              <a:lnSpc>
                <a:spcPts val="2451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831677" y="4091130"/>
          <a:ext cx="11315700" cy="2514600"/>
        </p:xfrm>
        <a:graphic>
          <a:graphicData uri="http://schemas.openxmlformats.org/presentationml/2006/ole">
            <p:oleObj imgW="13576300" imgH="4775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6" id="6"/>
          <p:cNvGraphicFramePr/>
          <p:nvPr/>
        </p:nvGraphicFramePr>
        <p:xfrm>
          <a:off x="6659314" y="4091130"/>
          <a:ext cx="11315700" cy="2514600"/>
        </p:xfrm>
        <a:graphic>
          <a:graphicData uri="http://schemas.openxmlformats.org/presentationml/2006/ole">
            <p:oleObj imgW="13576300" imgH="47752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12429230" y="4091130"/>
          <a:ext cx="11315700" cy="2514600"/>
        </p:xfrm>
        <a:graphic>
          <a:graphicData uri="http://schemas.openxmlformats.org/presentationml/2006/ole">
            <p:oleObj imgW="13576300" imgH="4775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058258" y="2640074"/>
            <a:ext cx="1029071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Algorithm Comparison Results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50938" y="3501273"/>
            <a:ext cx="5561621" cy="17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0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SMS Spam Detection: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67609" y="3501273"/>
            <a:ext cx="5561621" cy="17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0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Voice Scam Detection: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26379" y="3501273"/>
            <a:ext cx="5561621" cy="17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051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Phishing Detection: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65015" y="466929"/>
            <a:ext cx="4703456" cy="8591836"/>
          </a:xfrm>
          <a:custGeom>
            <a:avLst/>
            <a:gdLst/>
            <a:ahLst/>
            <a:cxnLst/>
            <a:rect r="r" b="b" t="t" l="l"/>
            <a:pathLst>
              <a:path h="8591836" w="4703456">
                <a:moveTo>
                  <a:pt x="0" y="0"/>
                </a:moveTo>
                <a:lnTo>
                  <a:pt x="4703456" y="0"/>
                </a:lnTo>
                <a:lnTo>
                  <a:pt x="4703456" y="8591835"/>
                </a:lnTo>
                <a:lnTo>
                  <a:pt x="0" y="85918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373" t="0" r="-18055" b="-1127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35669" y="2811498"/>
            <a:ext cx="6386537" cy="99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TEXT PREPROCESSING PIPELINE</a:t>
            </a:r>
          </a:p>
          <a:p>
            <a:pPr algn="l">
              <a:lnSpc>
                <a:spcPts val="2771"/>
              </a:lnSpc>
            </a:pPr>
          </a:p>
          <a:p>
            <a:pPr algn="l">
              <a:lnSpc>
                <a:spcPts val="2451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4286696" y="3734223"/>
          <a:ext cx="7543800" cy="3143250"/>
        </p:xfrm>
        <a:graphic>
          <a:graphicData uri="http://schemas.openxmlformats.org/presentationml/2006/ole">
            <p:oleObj imgW="9042400" imgH="4648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35669" y="2811498"/>
            <a:ext cx="638653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FEATURE EXTRACTION</a:t>
            </a:r>
          </a:p>
          <a:p>
            <a:pPr algn="l">
              <a:lnSpc>
                <a:spcPts val="2451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4286696" y="3734223"/>
          <a:ext cx="7543800" cy="3143250"/>
        </p:xfrm>
        <a:graphic>
          <a:graphicData uri="http://schemas.openxmlformats.org/presentationml/2006/ole">
            <p:oleObj imgW="9042400" imgH="4648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835669" y="2811498"/>
            <a:ext cx="6386537" cy="65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FEATURE EXTRACTION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72918" y="7151812"/>
            <a:ext cx="202755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TF-IDF Formula: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0715" y="7151812"/>
            <a:ext cx="10187323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TF-IDF(t,d) = TF(t,d) × IDF(t)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Where: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- TF(t,d) = (Number of times term t appears in document d) / (Total terms in d)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- IDF(t) = log(Total documents / Documents containing term t)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6379" y="735763"/>
            <a:ext cx="6481867" cy="8125840"/>
          </a:xfrm>
          <a:custGeom>
            <a:avLst/>
            <a:gdLst/>
            <a:ahLst/>
            <a:cxnLst/>
            <a:rect r="r" b="b" t="t" l="l"/>
            <a:pathLst>
              <a:path h="8125840" w="6481867">
                <a:moveTo>
                  <a:pt x="0" y="0"/>
                </a:moveTo>
                <a:lnTo>
                  <a:pt x="6481866" y="0"/>
                </a:lnTo>
                <a:lnTo>
                  <a:pt x="6481866" y="8125840"/>
                </a:lnTo>
                <a:lnTo>
                  <a:pt x="0" y="812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453" r="0" b="-1727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722408" y="2535614"/>
            <a:ext cx="8081731" cy="34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2"/>
              </a:lnSpc>
            </a:pPr>
            <a:r>
              <a:rPr lang="en-US" sz="21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TRAINING PROCESS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13048" y="3091533"/>
            <a:ext cx="2690892" cy="45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</a:t>
            </a:r>
            <a:r>
              <a:rPr lang="en-US" b="true" sz="25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aining Pipeline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6379" y="592443"/>
            <a:ext cx="4527542" cy="8466321"/>
          </a:xfrm>
          <a:custGeom>
            <a:avLst/>
            <a:gdLst/>
            <a:ahLst/>
            <a:cxnLst/>
            <a:rect r="r" b="b" t="t" l="l"/>
            <a:pathLst>
              <a:path h="8466321" w="4527542">
                <a:moveTo>
                  <a:pt x="0" y="0"/>
                </a:moveTo>
                <a:lnTo>
                  <a:pt x="4527542" y="0"/>
                </a:lnTo>
                <a:lnTo>
                  <a:pt x="4527542" y="8466321"/>
                </a:lnTo>
                <a:lnTo>
                  <a:pt x="0" y="8466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287" t="0" r="-17975" b="-616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MODEL ARCHITECTURE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17854" y="2625841"/>
            <a:ext cx="7299510" cy="3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2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VOICE PROCESSING PIPELINE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750938" y="3263435"/>
          <a:ext cx="9429750" cy="5029200"/>
        </p:xfrm>
        <a:graphic>
          <a:graphicData uri="http://schemas.openxmlformats.org/presentationml/2006/ole">
            <p:oleObj imgW="11315700" imgH="6908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047" y="1932070"/>
            <a:ext cx="8081731" cy="89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28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API ENDPOINTS</a:t>
            </a:r>
          </a:p>
          <a:p>
            <a:pPr algn="l">
              <a:lnSpc>
                <a:spcPts val="36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058494" y="2792448"/>
            <a:ext cx="4762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17854" y="2625841"/>
            <a:ext cx="7299510" cy="3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26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FastAPI ML Service Endpoints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38538" y="3253751"/>
            <a:ext cx="4018597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{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"is_spam": true,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"confidence": 0.9234,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"threat_level": "high",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"threat_indicators": [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"urgency_language",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"suspicious_url",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  "credential_request"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],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"model_used": "sms_classifier",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 "processing_time_ms": 45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38538" y="2792448"/>
            <a:ext cx="32699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Response Format Example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3419" y="2866541"/>
            <a:ext cx="2200119" cy="4849748"/>
          </a:xfrm>
          <a:custGeom>
            <a:avLst/>
            <a:gdLst/>
            <a:ahLst/>
            <a:cxnLst/>
            <a:rect r="r" b="b" t="t" l="l"/>
            <a:pathLst>
              <a:path h="4849748" w="2200119">
                <a:moveTo>
                  <a:pt x="0" y="0"/>
                </a:moveTo>
                <a:lnTo>
                  <a:pt x="2200120" y="0"/>
                </a:lnTo>
                <a:lnTo>
                  <a:pt x="2200120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36" t="0" r="-83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95822" y="2866541"/>
            <a:ext cx="2200119" cy="4849748"/>
          </a:xfrm>
          <a:custGeom>
            <a:avLst/>
            <a:gdLst/>
            <a:ahLst/>
            <a:cxnLst/>
            <a:rect r="r" b="b" t="t" l="l"/>
            <a:pathLst>
              <a:path h="4849748" w="2200119">
                <a:moveTo>
                  <a:pt x="0" y="0"/>
                </a:moveTo>
                <a:lnTo>
                  <a:pt x="2200119" y="0"/>
                </a:lnTo>
                <a:lnTo>
                  <a:pt x="2200119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36" t="0" r="-83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67904" y="2866541"/>
            <a:ext cx="2247660" cy="4849748"/>
          </a:xfrm>
          <a:custGeom>
            <a:avLst/>
            <a:gdLst/>
            <a:ahLst/>
            <a:cxnLst/>
            <a:rect r="r" b="b" t="t" l="l"/>
            <a:pathLst>
              <a:path h="4849748" w="2247660">
                <a:moveTo>
                  <a:pt x="0" y="0"/>
                </a:moveTo>
                <a:lnTo>
                  <a:pt x="2247660" y="0"/>
                </a:lnTo>
                <a:lnTo>
                  <a:pt x="2247660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36" t="0" r="-836" b="-216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55975" y="2866541"/>
            <a:ext cx="2234860" cy="4849748"/>
          </a:xfrm>
          <a:custGeom>
            <a:avLst/>
            <a:gdLst/>
            <a:ahLst/>
            <a:cxnLst/>
            <a:rect r="r" b="b" t="t" l="l"/>
            <a:pathLst>
              <a:path h="4849748" w="2234860">
                <a:moveTo>
                  <a:pt x="0" y="0"/>
                </a:moveTo>
                <a:lnTo>
                  <a:pt x="2234860" y="0"/>
                </a:lnTo>
                <a:lnTo>
                  <a:pt x="2234860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36" t="0" r="-836" b="-157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64509" y="2866541"/>
            <a:ext cx="2200119" cy="4849748"/>
          </a:xfrm>
          <a:custGeom>
            <a:avLst/>
            <a:gdLst/>
            <a:ahLst/>
            <a:cxnLst/>
            <a:rect r="r" b="b" t="t" l="l"/>
            <a:pathLst>
              <a:path h="4849748" w="2200119">
                <a:moveTo>
                  <a:pt x="0" y="0"/>
                </a:moveTo>
                <a:lnTo>
                  <a:pt x="2200119" y="0"/>
                </a:lnTo>
                <a:lnTo>
                  <a:pt x="2200119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36" t="0" r="-83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84306" y="2866541"/>
            <a:ext cx="2200119" cy="4849748"/>
          </a:xfrm>
          <a:custGeom>
            <a:avLst/>
            <a:gdLst/>
            <a:ahLst/>
            <a:cxnLst/>
            <a:rect r="r" b="b" t="t" l="l"/>
            <a:pathLst>
              <a:path h="4849748" w="2200119">
                <a:moveTo>
                  <a:pt x="0" y="0"/>
                </a:moveTo>
                <a:lnTo>
                  <a:pt x="2200119" y="0"/>
                </a:lnTo>
                <a:lnTo>
                  <a:pt x="2200119" y="4849748"/>
                </a:lnTo>
                <a:lnTo>
                  <a:pt x="0" y="48497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36" t="0" r="-836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68217" y="1661030"/>
            <a:ext cx="7513024" cy="36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242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Mobile App Screenshots: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82780" y="2418968"/>
            <a:ext cx="11440893" cy="430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2"/>
              </a:lnSpc>
            </a:pPr>
            <a:r>
              <a:rPr lang="en-US" sz="3414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Key Features Implemented: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Real-time text spam detection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Voice message transcription and analysis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Phishing URL detecti</a:t>
            </a: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on with threat level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Brand impersonation detection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User authentication and profile management</a:t>
            </a:r>
          </a:p>
          <a:p>
            <a:pPr algn="l" marL="737168" indent="-368584" lvl="1">
              <a:lnSpc>
                <a:spcPts val="4302"/>
              </a:lnSpc>
              <a:buFont typeface="Arial"/>
              <a:buChar char="•"/>
            </a:pPr>
            <a:r>
              <a:rPr lang="en-US" sz="3414">
                <a:solidFill>
                  <a:srgbClr val="59DAE4"/>
                </a:solidFill>
                <a:latin typeface="Lora"/>
                <a:ea typeface="Lora"/>
                <a:cs typeface="Lora"/>
                <a:sym typeface="Lora"/>
              </a:rPr>
              <a:t>Scan history with statistics</a:t>
            </a:r>
          </a:p>
          <a:p>
            <a:pPr algn="l">
              <a:lnSpc>
                <a:spcPts val="4302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882780" y="2311478"/>
          <a:ext cx="11279907" cy="6010275"/>
        </p:xfrm>
        <a:graphic>
          <a:graphicData uri="http://schemas.openxmlformats.org/drawingml/2006/table">
            <a:tbl>
              <a:tblPr/>
              <a:tblGrid>
                <a:gridCol w="6874410"/>
                <a:gridCol w="2187943"/>
                <a:gridCol w="2217555"/>
              </a:tblGrid>
              <a:tr h="8818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Metrice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Archieved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Spam Detection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&gt; 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96.2%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Phishing Detection Rate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&gt; 90%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92.5%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API Response Time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&lt;100ms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45ms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Voice Processing Time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 2s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1.2s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False Positive Rate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 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3.8%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10580758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RESULT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8217" y="1661030"/>
            <a:ext cx="7513024" cy="36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242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Evaluation Metrics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882780" y="2311478"/>
          <a:ext cx="11279907" cy="6010275"/>
        </p:xfrm>
        <a:graphic>
          <a:graphicData uri="http://schemas.openxmlformats.org/drawingml/2006/table">
            <a:tbl>
              <a:tblPr/>
              <a:tblGrid>
                <a:gridCol w="6874410"/>
                <a:gridCol w="2187943"/>
                <a:gridCol w="2217555"/>
              </a:tblGrid>
              <a:tr h="8818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Metrice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Target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Archieved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Spam Detection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&gt; 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96.2%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Phishing Detection Rate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&gt; 90%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92.5%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API Response Time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&lt;100ms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45ms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Voice Processing Time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 2s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1.2s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6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False Positive Rate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&lt; 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3.8%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Evaluation Metrices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139503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Discussion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135" y="3140581"/>
            <a:ext cx="4427932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Ensemble approach outperforms single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135" y="3677790"/>
            <a:ext cx="4312063" cy="13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26"/>
              </a:lnSpc>
            </a:pPr>
            <a:r>
              <a:rPr lang="en-US" sz="1800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Combining Random Forest and XGBoost achieves higher accuracy than</a:t>
            </a:r>
          </a:p>
          <a:p>
            <a:pPr algn="just">
              <a:lnSpc>
                <a:spcPts val="2826"/>
              </a:lnSpc>
            </a:pPr>
            <a:r>
              <a:rPr lang="en-US" sz="1800">
                <a:solidFill>
                  <a:srgbClr val="FFFCFC"/>
                </a:solidFill>
                <a:latin typeface="Lora"/>
                <a:ea typeface="Lora"/>
                <a:cs typeface="Lora"/>
                <a:sym typeface="Lora"/>
              </a:rPr>
              <a:t>     individual classifiers, consistent with findings by Gupta et al. (2021).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303788"/>
            <a:ext cx="703443" cy="769258"/>
            <a:chOff x="0" y="0"/>
            <a:chExt cx="812800" cy="8888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2734" y="48494"/>
              <a:ext cx="727332" cy="791859"/>
            </a:xfrm>
            <a:custGeom>
              <a:avLst/>
              <a:gdLst/>
              <a:ahLst/>
              <a:cxnLst/>
              <a:rect r="r" b="b" t="t" l="l"/>
              <a:pathLst>
                <a:path h="791859" w="727332">
                  <a:moveTo>
                    <a:pt x="437936" y="32725"/>
                  </a:moveTo>
                  <a:lnTo>
                    <a:pt x="695796" y="314710"/>
                  </a:lnTo>
                  <a:cubicBezTo>
                    <a:pt x="737844" y="360693"/>
                    <a:pt x="737844" y="431166"/>
                    <a:pt x="695796" y="477148"/>
                  </a:cubicBezTo>
                  <a:lnTo>
                    <a:pt x="437936" y="759133"/>
                  </a:lnTo>
                  <a:cubicBezTo>
                    <a:pt x="418871" y="779983"/>
                    <a:pt x="391919" y="791858"/>
                    <a:pt x="363666" y="791858"/>
                  </a:cubicBezTo>
                  <a:cubicBezTo>
                    <a:pt x="335413" y="791858"/>
                    <a:pt x="308461" y="779983"/>
                    <a:pt x="289396" y="759133"/>
                  </a:cubicBezTo>
                  <a:lnTo>
                    <a:pt x="31536" y="477148"/>
                  </a:lnTo>
                  <a:cubicBezTo>
                    <a:pt x="-10512" y="431166"/>
                    <a:pt x="-10512" y="360693"/>
                    <a:pt x="31536" y="314710"/>
                  </a:cubicBezTo>
                  <a:lnTo>
                    <a:pt x="289396" y="32725"/>
                  </a:lnTo>
                  <a:cubicBezTo>
                    <a:pt x="308461" y="11876"/>
                    <a:pt x="335413" y="0"/>
                    <a:pt x="363666" y="0"/>
                  </a:cubicBezTo>
                  <a:cubicBezTo>
                    <a:pt x="391919" y="0"/>
                    <a:pt x="418871" y="11876"/>
                    <a:pt x="437936" y="3272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14670"/>
              <a:ext cx="533400" cy="621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26400" y="2377705"/>
            <a:ext cx="4472367" cy="3118220"/>
            <a:chOff x="0" y="0"/>
            <a:chExt cx="5963156" cy="4157626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TF-IDF remains effective for SMS spam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9246" y="1854228"/>
              <a:ext cx="5749417" cy="2303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Despite advances in deep learning, TF-IDF with traditional ML achieves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comparable results to transformer models for short text classification,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similar to Almeida et al. (2011).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1645846" y="2377705"/>
            <a:ext cx="4472367" cy="2765795"/>
            <a:chOff x="0" y="0"/>
            <a:chExt cx="5963156" cy="368772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URL feature extraction is critical for phishing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9246" y="1854228"/>
              <a:ext cx="5749417" cy="1833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Our 30+ feature extraction approach aligns with Mohammad et al. (2014),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achieving 92.5% phishing detection rate.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3480216" y="5865742"/>
            <a:ext cx="4472367" cy="2765795"/>
            <a:chOff x="0" y="0"/>
            <a:chExt cx="5963156" cy="368772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 Hybrid rule-based + ML improves explainability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9246" y="1854228"/>
              <a:ext cx="5749417" cy="1833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Unlike pure deep learning approaches, our hybrid method provides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interpretable threat indicators to users.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9184207" y="5865742"/>
            <a:ext cx="4472367" cy="2765795"/>
            <a:chOff x="0" y="0"/>
            <a:chExt cx="5963156" cy="3687726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59246" y="1125249"/>
              <a:ext cx="5903910" cy="668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en-US" sz="1500">
                  <a:solidFill>
                    <a:srgbClr val="59DAE4"/>
                  </a:solidFill>
                  <a:latin typeface="Mokoto"/>
                  <a:ea typeface="Mokoto"/>
                  <a:cs typeface="Mokoto"/>
                  <a:sym typeface="Mokoto"/>
                </a:rPr>
                <a:t>Voice transcription adds value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9246" y="1854228"/>
              <a:ext cx="5749417" cy="1833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Extending spam detection to voice messages addresses a gap in existing</a:t>
              </a:r>
            </a:p>
            <a:p>
              <a:pPr algn="just">
                <a:lnSpc>
                  <a:spcPts val="2826"/>
                </a:lnSpc>
              </a:pPr>
              <a:r>
                <a:rPr lang="en-US" sz="1800">
                  <a:solidFill>
                    <a:srgbClr val="FFFCFC"/>
                  </a:solidFill>
                  <a:latin typeface="Lora"/>
                  <a:ea typeface="Lora"/>
                  <a:cs typeface="Lora"/>
                  <a:sym typeface="Lora"/>
                </a:rPr>
                <a:t>     research, as most studies focus only on text.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0"/>
              <a:ext cx="937924" cy="1025677"/>
              <a:chOff x="0" y="0"/>
              <a:chExt cx="812800" cy="88884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42734" y="48494"/>
                <a:ext cx="727332" cy="791859"/>
              </a:xfrm>
              <a:custGeom>
                <a:avLst/>
                <a:gdLst/>
                <a:ahLst/>
                <a:cxnLst/>
                <a:rect r="r" b="b" t="t" l="l"/>
                <a:pathLst>
                  <a:path h="791859" w="727332">
                    <a:moveTo>
                      <a:pt x="437936" y="32725"/>
                    </a:moveTo>
                    <a:lnTo>
                      <a:pt x="695796" y="314710"/>
                    </a:lnTo>
                    <a:cubicBezTo>
                      <a:pt x="737844" y="360693"/>
                      <a:pt x="737844" y="431166"/>
                      <a:pt x="695796" y="477148"/>
                    </a:cubicBezTo>
                    <a:lnTo>
                      <a:pt x="437936" y="759133"/>
                    </a:lnTo>
                    <a:cubicBezTo>
                      <a:pt x="418871" y="779983"/>
                      <a:pt x="391919" y="791858"/>
                      <a:pt x="363666" y="791858"/>
                    </a:cubicBezTo>
                    <a:cubicBezTo>
                      <a:pt x="335413" y="791858"/>
                      <a:pt x="308461" y="779983"/>
                      <a:pt x="289396" y="759133"/>
                    </a:cubicBezTo>
                    <a:lnTo>
                      <a:pt x="31536" y="477148"/>
                    </a:lnTo>
                    <a:cubicBezTo>
                      <a:pt x="-10512" y="431166"/>
                      <a:pt x="-10512" y="360693"/>
                      <a:pt x="31536" y="314710"/>
                    </a:cubicBezTo>
                    <a:lnTo>
                      <a:pt x="289396" y="32725"/>
                    </a:lnTo>
                    <a:cubicBezTo>
                      <a:pt x="308461" y="11876"/>
                      <a:pt x="335413" y="0"/>
                      <a:pt x="363666" y="0"/>
                    </a:cubicBezTo>
                    <a:cubicBezTo>
                      <a:pt x="391919" y="0"/>
                      <a:pt x="418871" y="11876"/>
                      <a:pt x="437936" y="32725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39700" y="114670"/>
                <a:ext cx="533400" cy="621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Lora Bold"/>
                    <a:ea typeface="Lora Bold"/>
                    <a:cs typeface="Lora Bold"/>
                    <a:sym typeface="Lora Bold"/>
                  </a:rPr>
                  <a:t>01</a:t>
                </a: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1677" y="7833005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07979" y="271704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55770" y="23114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651042" y="2311478"/>
          <a:ext cx="13616600" cy="6153150"/>
        </p:xfrm>
        <a:graphic>
          <a:graphicData uri="http://schemas.openxmlformats.org/drawingml/2006/table">
            <a:tbl>
              <a:tblPr/>
              <a:tblGrid>
                <a:gridCol w="4760278"/>
                <a:gridCol w="4296807"/>
                <a:gridCol w="4559515"/>
              </a:tblGrid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 Previous Work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Our 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Modality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Text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Text + Voice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Platform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Desktop/Server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Mobile-first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Spam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Interpretable indicators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Explainability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Black box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0.96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Real-time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Batch 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Real-time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Discussion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51042" y="1819175"/>
            <a:ext cx="542242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COMPARISON WITH PREVIOUS RESEARCH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181100" y="93826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Conclusion</a:t>
            </a:r>
          </a:p>
        </p:txBody>
      </p:sp>
      <p:sp>
        <p:nvSpPr>
          <p:cNvPr name="AutoShape 8" id="8"/>
          <p:cNvSpPr/>
          <p:nvPr/>
        </p:nvSpPr>
        <p:spPr>
          <a:xfrm>
            <a:off x="1181100" y="93826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212179" y="2607073"/>
            <a:ext cx="7616335" cy="555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STRENGTHS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Achieved 96.2% spam detection accuracy exceeding target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Multi-modal support (text + voice) addresses market gap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Mobile-first design provides accessible user experience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Hybrid ML approach balances accuracy and explainability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Comprehensive phishing detection with brand impersonation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LIMITATIONS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Currently optimized for English language only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Voice transcription accuracy depends on audio quality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Requires internet connection for ML inference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Limited training data for Khmer language spam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8217" y="688138"/>
            <a:ext cx="14653237" cy="9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5"/>
              </a:lnSpc>
            </a:pPr>
            <a:r>
              <a:rPr lang="en-US" sz="55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Conclusion</a:t>
            </a:r>
          </a:p>
        </p:txBody>
      </p:sp>
      <p:sp>
        <p:nvSpPr>
          <p:cNvPr name="AutoShape 8" id="8"/>
          <p:cNvSpPr/>
          <p:nvPr/>
        </p:nvSpPr>
        <p:spPr>
          <a:xfrm>
            <a:off x="1181100" y="93826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271681" y="1819175"/>
            <a:ext cx="8099123" cy="629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SIGNIFICANCE OF THE STUDY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Provides accessible cybersecurity tool for general users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Demonstrates practical application of ML in mobile security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Contributes to spam/phishing detection research with multi-modal approach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Offers framework for future development and research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FUTURE RESEARCH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 Extend support for Khmer language detection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Implement on-device ML for offline functionality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Add real-time SMS/call screening integration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Develop browser extension for web-based phishing protection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Explore federated learning for privacy-preserving model updates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4144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2584" y="-523428"/>
            <a:ext cx="11600207" cy="11009651"/>
          </a:xfrm>
          <a:custGeom>
            <a:avLst/>
            <a:gdLst/>
            <a:ahLst/>
            <a:cxnLst/>
            <a:rect r="r" b="b" t="t" l="l"/>
            <a:pathLst>
              <a:path h="11009651" w="11600207">
                <a:moveTo>
                  <a:pt x="0" y="0"/>
                </a:moveTo>
                <a:lnTo>
                  <a:pt x="11600207" y="0"/>
                </a:lnTo>
                <a:lnTo>
                  <a:pt x="11600207" y="11009651"/>
                </a:lnTo>
                <a:lnTo>
                  <a:pt x="0" y="11009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12555" y="656100"/>
            <a:ext cx="9272840" cy="9272840"/>
          </a:xfrm>
          <a:custGeom>
            <a:avLst/>
            <a:gdLst/>
            <a:ahLst/>
            <a:cxnLst/>
            <a:rect r="r" b="b" t="t" l="l"/>
            <a:pathLst>
              <a:path h="9272840" w="9272840">
                <a:moveTo>
                  <a:pt x="0" y="0"/>
                </a:moveTo>
                <a:lnTo>
                  <a:pt x="9272840" y="0"/>
                </a:lnTo>
                <a:lnTo>
                  <a:pt x="9272840" y="9272840"/>
                </a:lnTo>
                <a:lnTo>
                  <a:pt x="0" y="9272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173356" y="1988112"/>
            <a:ext cx="6608816" cy="66088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44322" y="2159078"/>
            <a:ext cx="6266885" cy="626688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546139" y="2360895"/>
            <a:ext cx="5863250" cy="58632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3333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546139" y="7164978"/>
            <a:ext cx="1431950" cy="143195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790440" y="7409278"/>
            <a:ext cx="943350" cy="943350"/>
          </a:xfrm>
          <a:custGeom>
            <a:avLst/>
            <a:gdLst/>
            <a:ahLst/>
            <a:cxnLst/>
            <a:rect r="r" b="b" t="t" l="l"/>
            <a:pathLst>
              <a:path h="943350" w="943350">
                <a:moveTo>
                  <a:pt x="0" y="0"/>
                </a:moveTo>
                <a:lnTo>
                  <a:pt x="943350" y="0"/>
                </a:lnTo>
                <a:lnTo>
                  <a:pt x="943350" y="943350"/>
                </a:lnTo>
                <a:lnTo>
                  <a:pt x="0" y="9433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6327484"/>
            <a:ext cx="4735081" cy="732550"/>
            <a:chOff x="0" y="0"/>
            <a:chExt cx="1247100" cy="1929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7100" cy="192935"/>
            </a:xfrm>
            <a:custGeom>
              <a:avLst/>
              <a:gdLst/>
              <a:ahLst/>
              <a:cxnLst/>
              <a:rect r="r" b="b" t="t" l="l"/>
              <a:pathLst>
                <a:path h="192935" w="1247100">
                  <a:moveTo>
                    <a:pt x="29430" y="0"/>
                  </a:moveTo>
                  <a:lnTo>
                    <a:pt x="1217669" y="0"/>
                  </a:lnTo>
                  <a:cubicBezTo>
                    <a:pt x="1225475" y="0"/>
                    <a:pt x="1232960" y="3101"/>
                    <a:pt x="1238480" y="8620"/>
                  </a:cubicBezTo>
                  <a:cubicBezTo>
                    <a:pt x="1243999" y="14139"/>
                    <a:pt x="1247100" y="21625"/>
                    <a:pt x="1247100" y="29430"/>
                  </a:cubicBezTo>
                  <a:lnTo>
                    <a:pt x="1247100" y="163505"/>
                  </a:lnTo>
                  <a:cubicBezTo>
                    <a:pt x="1247100" y="171310"/>
                    <a:pt x="1243999" y="178796"/>
                    <a:pt x="1238480" y="184315"/>
                  </a:cubicBezTo>
                  <a:cubicBezTo>
                    <a:pt x="1232960" y="189834"/>
                    <a:pt x="1225475" y="192935"/>
                    <a:pt x="1217669" y="192935"/>
                  </a:cubicBezTo>
                  <a:lnTo>
                    <a:pt x="29430" y="192935"/>
                  </a:lnTo>
                  <a:cubicBezTo>
                    <a:pt x="13176" y="192935"/>
                    <a:pt x="0" y="179759"/>
                    <a:pt x="0" y="163505"/>
                  </a:cubicBezTo>
                  <a:lnTo>
                    <a:pt x="0" y="29430"/>
                  </a:lnTo>
                  <a:cubicBezTo>
                    <a:pt x="0" y="21625"/>
                    <a:pt x="3101" y="14139"/>
                    <a:pt x="8620" y="8620"/>
                  </a:cubicBezTo>
                  <a:cubicBezTo>
                    <a:pt x="14139" y="3101"/>
                    <a:pt x="21625" y="0"/>
                    <a:pt x="2943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47100" cy="231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28700" y="9230214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831677" y="7966332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2"/>
                </a:lnTo>
                <a:lnTo>
                  <a:pt x="0" y="919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3190334"/>
            <a:ext cx="6728482" cy="283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3"/>
              </a:lnSpc>
            </a:pPr>
            <a:r>
              <a:rPr lang="en-US" sz="8899">
                <a:solidFill>
                  <a:srgbClr val="59DAE4"/>
                </a:solidFill>
                <a:latin typeface="Mokoto"/>
                <a:ea typeface="Mokoto"/>
                <a:cs typeface="Mokoto"/>
                <a:sym typeface="Mokoto"/>
              </a:rPr>
              <a:t>Thank You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035" y="6353717"/>
            <a:ext cx="4108771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For the attention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67609" y="9361522"/>
            <a:ext cx="455278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Artificial Intelligence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 Shield Inc.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48975" y="9361522"/>
            <a:ext cx="37081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Page 12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603370" y="2159078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1" y="0"/>
                </a:lnTo>
                <a:lnTo>
                  <a:pt x="919261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-459631" y="0"/>
            <a:ext cx="919261" cy="919261"/>
          </a:xfrm>
          <a:custGeom>
            <a:avLst/>
            <a:gdLst/>
            <a:ahLst/>
            <a:cxnLst/>
            <a:rect r="r" b="b" t="t" l="l"/>
            <a:pathLst>
              <a:path h="919261" w="919261">
                <a:moveTo>
                  <a:pt x="0" y="0"/>
                </a:moveTo>
                <a:lnTo>
                  <a:pt x="919262" y="0"/>
                </a:lnTo>
                <a:lnTo>
                  <a:pt x="919262" y="919261"/>
                </a:lnTo>
                <a:lnTo>
                  <a:pt x="0" y="919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DAHHXg2hQoE</dc:identifier>
  <dcterms:modified xsi:type="dcterms:W3CDTF">2011-08-01T06:04:30Z</dcterms:modified>
  <cp:revision>1</cp:revision>
  <dc:title>ai-scam-shield</dc:title>
</cp:coreProperties>
</file>